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A66"/>
          </a:solidFill>
          <a:ln>
            <a:solidFill>
              <a:srgbClr val="0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1688E8"/>
          </a:solidFill>
          <a:ln>
            <a:solidFill>
              <a:srgbClr val="168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D2E6FA"/>
                </a:solidFill>
                <a:latin typeface="Aptos"/>
              </a:rPr>
              <a:t>END-TO-END DATA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607040" cy="1234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Pharmaceutical Supply Chain
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1024128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From cleaned source data → SQL analysis → Power BI dashboards → business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4639475" cy="2369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IN" sz="1300" dirty="0">
                <a:solidFill>
                  <a:srgbClr val="DCEBFA"/>
                </a:solidFill>
                <a:latin typeface="Aptos"/>
              </a:rPr>
              <a:t> Power Query |  </a:t>
            </a:r>
            <a:r>
              <a:rPr sz="1300" b="0" dirty="0">
                <a:solidFill>
                  <a:srgbClr val="DCEBFA"/>
                </a:solidFill>
                <a:latin typeface="Aptos"/>
              </a:rPr>
              <a:t>SQL Server |  Power BI  |  DAX  |  Business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36576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Portfolio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5806440"/>
            <a:ext cx="27432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Krish Gurjar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A single analytical workflow covering commercial, operational and supply-chain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60604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4864" cy="960120"/>
          </a:xfrm>
          <a:prstGeom prst="rect">
            <a:avLst/>
          </a:prstGeom>
          <a:solidFill>
            <a:srgbClr val="168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62456"/>
            <a:ext cx="23774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₹217.39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19656"/>
            <a:ext cx="2377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Gross order value reviewed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34440"/>
            <a:ext cx="260604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234440"/>
            <a:ext cx="54864" cy="960120"/>
          </a:xfrm>
          <a:prstGeom prst="rect">
            <a:avLst/>
          </a:prstGeom>
          <a:solidFill>
            <a:srgbClr val="168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2152" y="1362456"/>
            <a:ext cx="23774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54.31M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819656"/>
            <a:ext cx="2377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Production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234440"/>
            <a:ext cx="260604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234440"/>
            <a:ext cx="54864" cy="960120"/>
          </a:xfrm>
          <a:prstGeom prst="rect">
            <a:avLst/>
          </a:prstGeom>
          <a:solidFill>
            <a:srgbClr val="168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5352" y="1362456"/>
            <a:ext cx="23774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4.86M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819656"/>
            <a:ext cx="2377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Inventory on hand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234440"/>
            <a:ext cx="260604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23960" y="1234440"/>
            <a:ext cx="54864" cy="96012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88552" y="1362456"/>
            <a:ext cx="23774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95.84%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1819656"/>
            <a:ext cx="2377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QC pass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468880"/>
            <a:ext cx="260604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2468880"/>
            <a:ext cx="54864" cy="96012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2596896"/>
            <a:ext cx="23774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66.57%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054096"/>
            <a:ext cx="2377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Completed-shipment on-time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2468880"/>
            <a:ext cx="260604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37560" y="2468880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02152" y="2596896"/>
            <a:ext cx="23774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3.85M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3054096"/>
            <a:ext cx="2377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Units in &gt;70% shelf-life screen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2468880"/>
            <a:ext cx="260604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80760" y="2468880"/>
            <a:ext cx="54864" cy="960120"/>
          </a:xfrm>
          <a:prstGeom prst="rect">
            <a:avLst/>
          </a:prstGeom>
          <a:solidFill>
            <a:srgbClr val="D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45352" y="2596896"/>
            <a:ext cx="23774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118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3054096"/>
            <a:ext cx="2377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Potential dead-stock batches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2468880"/>
            <a:ext cx="260604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823960" y="2468880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88552" y="2596896"/>
            <a:ext cx="23774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34 / 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8552" y="3054096"/>
            <a:ext cx="237744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Suppliers above ₹10K review threshold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794760"/>
            <a:ext cx="10972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023360"/>
            <a:ext cx="21945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3A66"/>
                </a:solidFill>
                <a:latin typeface="Aptos"/>
              </a:rPr>
              <a:t>Management takeaway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89120"/>
            <a:ext cx="9537163" cy="898708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Inventory risk is the largest working-capital signal: 3.85M units were in batches crossing the project's 70% shelf-life screening threshold.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Procurement review is broad: 34 of 46 suppliers exceed the ₹10,000 average material-cost review threshold.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Logistics needs attention: 478 completed shipments were late; the 66.57% </a:t>
            </a:r>
            <a:r>
              <a:rPr lang="en-US" dirty="0"/>
              <a:t>( 952 ) of 1430  </a:t>
            </a:r>
            <a:r>
              <a:rPr dirty="0"/>
              <a:t>on-time rate excludes records without both delivery dates.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Commercial revenue is diversified by customer, while Antibiotic, Cardiac and NSAID categories contribute about 45.4% of analyzed order value.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B6573"/>
                </a:solidFill>
                <a:latin typeface="Aptos"/>
              </a:rPr>
              <a:t>Pharma Supply Chain Analytics  •  Krish Gurjar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Business Objective &amp;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The project turns operational records into questions a supply-chain team can act 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520440"/>
            <a:ext cx="3429000" cy="1874519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30632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3A66"/>
                </a:solidFill>
                <a:latin typeface="Aptos"/>
              </a:rPr>
              <a:t>Commercial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3063240" cy="10515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20" b="0" dirty="0">
                <a:solidFill>
                  <a:srgbClr val="1F2937"/>
                </a:solidFill>
                <a:latin typeface="Aptos"/>
              </a:rPr>
              <a:t>What is the order-value base?
Which therapeutic categories drive revenue?
How does revenue change over time?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29000" cy="1874519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0632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3A66"/>
                </a:solidFill>
                <a:latin typeface="Aptos"/>
              </a:rPr>
              <a:t>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3063240" cy="10515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20" b="0" dirty="0">
                <a:solidFill>
                  <a:srgbClr val="1F2937"/>
                </a:solidFill>
                <a:latin typeface="Aptos"/>
              </a:rPr>
              <a:t>How much is produced?
Which products/categories lead output?
How does production vary by plant and month?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34440"/>
            <a:ext cx="3429000" cy="1874519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417320"/>
            <a:ext cx="30632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3A66"/>
                </a:solidFill>
                <a:latin typeface="Aptos"/>
              </a:rPr>
              <a:t>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3063240" cy="10515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Aptos"/>
              </a:rPr>
              <a:t>How much stock is on hand?
Which batches are aging?
Which batches are potential dead stock?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34440"/>
            <a:ext cx="3429000" cy="1874519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20"/>
            <a:ext cx="30632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3A66"/>
                </a:solidFill>
                <a:latin typeface="Aptos"/>
              </a:rPr>
              <a:t>Quality &amp; Logistics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063240" cy="10515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Aptos"/>
              </a:rPr>
              <a:t>What is the QC pass rate?
Which exceptions need review?
Where are shipment delays occurring?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520440"/>
            <a:ext cx="3429000" cy="1874519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3703320"/>
            <a:ext cx="30632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3A66"/>
                </a:solidFill>
                <a:latin typeface="Aptos"/>
              </a:rPr>
              <a:t>Procurement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063240" cy="10515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Aptos"/>
              </a:rPr>
              <a:t>Which suppliers have high material costs?
How diversified is each supplier?
Where should procurement review focus?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760720"/>
            <a:ext cx="12801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688E8"/>
                </a:solidFill>
                <a:latin typeface="Aptos"/>
              </a:rPr>
              <a:t>Decision 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60720"/>
            <a:ext cx="93268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5B6573"/>
                </a:solidFill>
                <a:latin typeface="Aptos"/>
              </a:rPr>
              <a:t>Protect cash  •  reduce inventory risk  •  control procurement cost  •  improve service  •  strengthen data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B6573"/>
                </a:solidFill>
                <a:latin typeface="Aptos"/>
              </a:rPr>
              <a:t>Pharma Supply Chain Analytics  •  Krish Gurjar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Data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11 cleaned Excel tables feed the analytical model; 21,104 source rows were reviewed.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492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1344168"/>
            <a:ext cx="14173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3A66"/>
                </a:solidFill>
                <a:latin typeface="Aptos"/>
              </a:rPr>
              <a:t>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344168"/>
            <a:ext cx="7315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688E8"/>
                </a:solidFill>
                <a:latin typeface="Aptos"/>
              </a:rPr>
              <a:t>250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325880"/>
            <a:ext cx="2743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Aptos"/>
              </a:rPr>
              <a:t>Customer master, type, geography, credit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39112"/>
            <a:ext cx="53492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148840"/>
            <a:ext cx="14173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3A66"/>
                </a:solidFill>
                <a:latin typeface="Aptos"/>
              </a:rPr>
              <a:t>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48840"/>
            <a:ext cx="7315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688E8"/>
                </a:solidFill>
                <a:latin typeface="Aptos"/>
              </a:rPr>
              <a:t>2,200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30552"/>
            <a:ext cx="2743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Aptos"/>
              </a:rPr>
              <a:t>Batch, warehouse, quantity, stock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43784"/>
            <a:ext cx="53492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2953512"/>
            <a:ext cx="14173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3A66"/>
                </a:solidFill>
                <a:latin typeface="Aptos"/>
              </a:rPr>
              <a:t>Order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953512"/>
            <a:ext cx="7315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688E8"/>
                </a:solidFill>
                <a:latin typeface="Aptos"/>
              </a:rPr>
              <a:t>7,396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35224"/>
            <a:ext cx="2743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Aptos"/>
              </a:rPr>
              <a:t>Product/batch quantities, price, discount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48456"/>
            <a:ext cx="53492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3758184"/>
            <a:ext cx="14173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3A66"/>
                </a:solidFill>
                <a:latin typeface="Aptos"/>
              </a:rPr>
              <a:t>Production Batch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758184"/>
            <a:ext cx="7315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688E8"/>
                </a:solidFill>
                <a:latin typeface="Aptos"/>
              </a:rPr>
              <a:t>2,500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739896"/>
            <a:ext cx="2743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Aptos"/>
              </a:rPr>
              <a:t>Batch, product, plant, dates, output,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453128"/>
            <a:ext cx="53492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4562856"/>
            <a:ext cx="14173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3A66"/>
                </a:solidFill>
                <a:latin typeface="Aptos"/>
              </a:rPr>
              <a:t>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562856"/>
            <a:ext cx="7315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688E8"/>
                </a:solidFill>
                <a:latin typeface="Aptos"/>
              </a:rPr>
              <a:t>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544568"/>
            <a:ext cx="2743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Aptos"/>
              </a:rPr>
              <a:t>Category, dosage, strength, MRP, 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257800"/>
            <a:ext cx="53492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5367528"/>
            <a:ext cx="14173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3A66"/>
                </a:solidFill>
                <a:latin typeface="Aptos"/>
              </a:rPr>
              <a:t>Quality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367528"/>
            <a:ext cx="7315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688E8"/>
                </a:solidFill>
                <a:latin typeface="Aptos"/>
              </a:rPr>
              <a:t>2,500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349240"/>
            <a:ext cx="2743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Aptos"/>
              </a:rPr>
              <a:t>QC tests, final result, remarks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234440"/>
            <a:ext cx="53492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64224" y="1344168"/>
            <a:ext cx="14173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3A66"/>
                </a:solidFill>
                <a:latin typeface="Aptos"/>
              </a:rPr>
              <a:t>Raw Material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1344168"/>
            <a:ext cx="7315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688E8"/>
                </a:solidFill>
                <a:latin typeface="Aptos"/>
              </a:rPr>
              <a:t>120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325880"/>
            <a:ext cx="2743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Aptos"/>
              </a:rPr>
              <a:t>Materials, supplier, category, unit cost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039112"/>
            <a:ext cx="53492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64224" y="2148840"/>
            <a:ext cx="14173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3A66"/>
                </a:solidFill>
                <a:latin typeface="Aptos"/>
              </a:rPr>
              <a:t>Sales Order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2148840"/>
            <a:ext cx="7315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688E8"/>
                </a:solidFill>
                <a:latin typeface="Aptos"/>
              </a:rPr>
              <a:t>3,000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2130552"/>
            <a:ext cx="2743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Aptos"/>
              </a:rPr>
              <a:t>Customer, warehouse, order date/status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843784"/>
            <a:ext cx="53492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64224" y="2953512"/>
            <a:ext cx="14173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3A66"/>
                </a:solidFill>
                <a:latin typeface="Aptos"/>
              </a:rPr>
              <a:t>Shipment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2953512"/>
            <a:ext cx="7315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688E8"/>
                </a:solidFill>
                <a:latin typeface="Aptos"/>
              </a:rPr>
              <a:t>3,000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2935224"/>
            <a:ext cx="2743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Aptos"/>
              </a:rPr>
              <a:t>Courier, delivery dates, freight, status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648456"/>
            <a:ext cx="53492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64224" y="3758184"/>
            <a:ext cx="14173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3A66"/>
                </a:solidFill>
                <a:latin typeface="Aptos"/>
              </a:rPr>
              <a:t>Suppliers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3758184"/>
            <a:ext cx="7315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688E8"/>
                </a:solidFill>
                <a:latin typeface="Aptos"/>
              </a:rPr>
              <a:t>46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3739896"/>
            <a:ext cx="2743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Aptos"/>
              </a:rPr>
              <a:t>Supplier master, rating, activity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453128"/>
            <a:ext cx="53492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64224" y="4562856"/>
            <a:ext cx="14173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3A66"/>
                </a:solidFill>
                <a:latin typeface="Aptos"/>
              </a:rPr>
              <a:t>Warehouse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4562856"/>
            <a:ext cx="7315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688E8"/>
                </a:solidFill>
                <a:latin typeface="Aptos"/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4544568"/>
            <a:ext cx="2743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Aptos"/>
              </a:rPr>
              <a:t>Warehouse master, type, cold storage, capacity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172200"/>
            <a:ext cx="107899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5B6573"/>
                </a:solidFill>
                <a:latin typeface="Aptos"/>
              </a:rPr>
              <a:t>Analytical scope spans product, production, inventory, supplier, QC, logistics, cost, revenue, customer and shelf-life analytics.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B6573"/>
                </a:solidFill>
                <a:latin typeface="Aptos"/>
              </a:rPr>
              <a:t>Pharma Supply Chain Analytics  •  Krish Gurjar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Data Preparation &amp; Analytical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Power Query prepares analysis-ready tables before SQL and Power BI consume the cleaned 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627632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1688E8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3258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Source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3258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11 Excel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7128" y="2148840"/>
            <a:ext cx="2286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5B6573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1508760"/>
            <a:ext cx="1627632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78608" y="1691640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1688E8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148840"/>
            <a:ext cx="13258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Power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651760"/>
            <a:ext cx="13258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Clean / standardize / type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656" y="2148840"/>
            <a:ext cx="2286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5B6573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508760"/>
            <a:ext cx="1627632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1691640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1688E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48840"/>
            <a:ext cx="13258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SQL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51760"/>
            <a:ext cx="13258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Relational analysis +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2148840"/>
            <a:ext cx="2286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5B65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508760"/>
            <a:ext cx="1627632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55664" y="1691640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1688E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148840"/>
            <a:ext cx="13258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DAX / Power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651760"/>
            <a:ext cx="13258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KPIs, time intelligence, risk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148840"/>
            <a:ext cx="2286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5B6573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7032" y="1508760"/>
            <a:ext cx="1627632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1691640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1688E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148840"/>
            <a:ext cx="13258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Dashboards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651760"/>
            <a:ext cx="13258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Interactive decision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148840"/>
            <a:ext cx="2286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5B6573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5560" y="1508760"/>
            <a:ext cx="1627632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0" y="1691640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1688E8"/>
                </a:solidFill>
                <a:latin typeface="Apto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148840"/>
            <a:ext cx="13258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2651760"/>
            <a:ext cx="13258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Actions + controls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977639"/>
            <a:ext cx="10744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206240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B3A66"/>
                </a:solidFill>
                <a:latin typeface="Aptos"/>
              </a:rPr>
              <a:t>Preparation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114800"/>
            <a:ext cx="8321040" cy="91440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1F2937"/>
                </a:solidFill>
                <a:latin typeface="Aptos"/>
              </a:defRPr>
            </a:pPr>
            <a:r>
              <a:t>• Standardized date fields support monthly and operational time analysis.</a:t>
            </a:r>
          </a:p>
          <a:p>
            <a:pPr>
              <a:spcAft>
                <a:spcPts val="400"/>
              </a:spcAft>
              <a:defRPr sz="1120">
                <a:solidFill>
                  <a:srgbClr val="1F2937"/>
                </a:solidFill>
                <a:latin typeface="Aptos"/>
              </a:defRPr>
            </a:pPr>
            <a:r>
              <a:t>• Cleaned table names and business-friendly fields support consistent SQL and Power BI references.</a:t>
            </a:r>
          </a:p>
          <a:p>
            <a:pPr>
              <a:spcAft>
                <a:spcPts val="400"/>
              </a:spcAft>
              <a:defRPr sz="1120">
                <a:solidFill>
                  <a:srgbClr val="1F2937"/>
                </a:solidFill>
                <a:latin typeface="Aptos"/>
              </a:defRPr>
            </a:pPr>
            <a:r>
              <a:t>• Missing values are retained where they represent real data-quality gaps; they are not silently converted into business events.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B6573"/>
                </a:solidFill>
                <a:latin typeface="Aptos"/>
              </a:rPr>
              <a:t>Pharma Supply Chain Analytics  •  Krish Gurjar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SQL Analysis &amp; Technical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13 practical SQL questions were used to convert relational records into measurable business signals.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5394960" cy="452628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49240" cy="452628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3A66"/>
                </a:solidFill>
                <a:latin typeface="Aptos"/>
              </a:rPr>
              <a:t>Business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43397" cy="2724849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Upcoming batches within 90 days of expiry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Production quantity by product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Average material cost by supplier/category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Supplier diversification by distinct materials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Revenue by customer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Potential dead-stock candidates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Batches with missing QC records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• Orders vs shipments mismatch audit</a:t>
            </a:r>
            <a:endParaRPr lang="en-US" dirty="0"/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endParaRPr lang="en-IN" sz="1150" dirty="0">
              <a:solidFill>
                <a:srgbClr val="1F2937"/>
              </a:solidFill>
              <a:latin typeface="Aptos"/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endParaRPr lang="en-IN" sz="1150" dirty="0">
              <a:solidFill>
                <a:srgbClr val="1F2937"/>
              </a:solidFill>
              <a:latin typeface="Aptos"/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rPr lang="en-IN" dirty="0"/>
              <a:t> 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492240" y="1444752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3A66"/>
                </a:solidFill>
                <a:latin typeface="Aptos"/>
              </a:rPr>
              <a:t>Advanced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338328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Suppliers above ₹10,000 average material cost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QC pass-rate buckets using CTE + CASE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Customer revenue ranking within state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Plant-wise monthly running production total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Batches past 70% shelf life with inventory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NULL / consistency checks and reconciliation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272" y="5989320"/>
            <a:ext cx="10650416" cy="19377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19" b="0" dirty="0">
                <a:solidFill>
                  <a:srgbClr val="5B6573"/>
                </a:solidFill>
                <a:latin typeface="Aptos"/>
              </a:rPr>
              <a:t>Techniques: INNER / LEFT / RIGHT / FULL OUTER JOIN • GROUP BY • HAVING • CTE • CASE • RANK() • PARTITION BY • </a:t>
            </a:r>
            <a:r>
              <a:rPr lang="en-US" sz="1019" dirty="0">
                <a:solidFill>
                  <a:srgbClr val="5B6573"/>
                </a:solidFill>
                <a:latin typeface="Aptos"/>
              </a:rPr>
              <a:t>RUNNING TOTAL</a:t>
            </a:r>
            <a:r>
              <a:rPr sz="1019" b="0" dirty="0">
                <a:solidFill>
                  <a:srgbClr val="5B6573"/>
                </a:solidFill>
                <a:latin typeface="Aptos"/>
              </a:rPr>
              <a:t> • DATEDIFF / DATEADD / GETDATE / DATEFROMPARTS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2396554" cy="16773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B6573"/>
                </a:solidFill>
                <a:latin typeface="Aptos"/>
              </a:rPr>
              <a:t>Pharma Supply Chain Analytics  •  Krish Gurjar  •  </a:t>
            </a:r>
            <a:r>
              <a:rPr lang="en-IN" sz="850" b="0" dirty="0">
                <a:solidFill>
                  <a:srgbClr val="5B6573"/>
                </a:solidFill>
                <a:latin typeface="Aptos"/>
              </a:rPr>
              <a:t>6</a:t>
            </a:r>
            <a:endParaRPr sz="850" b="0" dirty="0">
              <a:solidFill>
                <a:srgbClr val="5B65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SQL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The SQL layer identifies the highest-priority operational and commercial signals.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38328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54864" cy="1417320"/>
          </a:xfrm>
          <a:prstGeom prst="rect">
            <a:avLst/>
          </a:prstGeom>
          <a:solidFill>
            <a:srgbClr val="168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453895"/>
            <a:ext cx="31546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₹217.39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11095"/>
            <a:ext cx="31546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Order value reviewed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59152"/>
            <a:ext cx="2971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5B6573"/>
                </a:solidFill>
                <a:latin typeface="Aptos"/>
              </a:rPr>
              <a:t>Commercial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38328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54864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453895"/>
            <a:ext cx="31546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3.85M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911095"/>
            <a:ext cx="31546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On-hand units in &gt;70% shelf-life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59152"/>
            <a:ext cx="2971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5B6573"/>
                </a:solidFill>
                <a:latin typeface="Aptos"/>
              </a:rPr>
              <a:t>Working-capital / expiry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54864" cy="1417320"/>
          </a:xfrm>
          <a:prstGeom prst="rect">
            <a:avLst/>
          </a:prstGeom>
          <a:solidFill>
            <a:srgbClr val="D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453895"/>
            <a:ext cx="31546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911095"/>
            <a:ext cx="31546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Potential dead-stock batches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359152"/>
            <a:ext cx="2971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5B6573"/>
                </a:solidFill>
                <a:latin typeface="Aptos"/>
              </a:rPr>
              <a:t>Inventory carrying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474720"/>
            <a:ext cx="338328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3474720"/>
            <a:ext cx="54864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3602736"/>
            <a:ext cx="31546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34 / 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059935"/>
            <a:ext cx="31546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Suppliers above ₹10K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507992"/>
            <a:ext cx="2971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5B6573"/>
                </a:solidFill>
                <a:latin typeface="Aptos"/>
              </a:rPr>
              <a:t>Procurement review population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474720"/>
            <a:ext cx="338328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3474720"/>
            <a:ext cx="54864" cy="141732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7992" y="3602736"/>
            <a:ext cx="31546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4059935"/>
            <a:ext cx="31546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Unmatched order/shipment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507992"/>
            <a:ext cx="2971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5B6573"/>
                </a:solidFill>
                <a:latin typeface="Aptos"/>
              </a:rPr>
              <a:t>Reconciliation check passed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474720"/>
            <a:ext cx="338328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92440" y="3474720"/>
            <a:ext cx="54864" cy="141732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7031" y="3602736"/>
            <a:ext cx="31546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4059935"/>
            <a:ext cx="31546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Batches without QC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4507992"/>
            <a:ext cx="2971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5B6573"/>
                </a:solidFill>
                <a:latin typeface="Aptos"/>
              </a:rPr>
              <a:t>QC record completeness check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806440"/>
            <a:ext cx="109728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5916168"/>
            <a:ext cx="105156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Aptos"/>
              </a:rPr>
              <a:t>Important: these are analytical signals and screening outputs—not automatic proof of disposal, supplier overpricing, or process failure.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37960"/>
            <a:ext cx="2396554" cy="298543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B6573"/>
                </a:solidFill>
                <a:latin typeface="Aptos"/>
              </a:rPr>
              <a:t>Pharma Supply Chain Analytics  •  Krish Gurjar  •  </a:t>
            </a:r>
            <a:r>
              <a:rPr lang="en-IN" sz="850" b="0" dirty="0">
                <a:solidFill>
                  <a:srgbClr val="5B6573"/>
                </a:solidFill>
                <a:latin typeface="Aptos"/>
              </a:rPr>
              <a:t>7</a:t>
            </a:r>
          </a:p>
          <a:p>
            <a:pPr algn="l"/>
            <a:endParaRPr sz="850" b="0" dirty="0">
              <a:solidFill>
                <a:srgbClr val="5B65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Power BI Dashboard 1 — Pharma Manufacturing &amp; Supply Chain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Executive commercial and operational overview with slicers, DAX KPIs and category/time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2396554" cy="16773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B6573"/>
                </a:solidFill>
                <a:latin typeface="Aptos"/>
              </a:rPr>
              <a:t>Pharma Supply Chain Analytics  •  Krish Gurjar  •  </a:t>
            </a:r>
            <a:r>
              <a:rPr lang="en-IN" sz="850" b="0" dirty="0">
                <a:solidFill>
                  <a:srgbClr val="5B6573"/>
                </a:solidFill>
                <a:latin typeface="Aptos"/>
              </a:rPr>
              <a:t>8</a:t>
            </a:r>
            <a:endParaRPr sz="850" b="0" dirty="0">
              <a:solidFill>
                <a:srgbClr val="5B6573"/>
              </a:solidFill>
              <a:latin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F84F8F-C4BA-32B1-3FB0-C6C34C214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533" y="1115567"/>
            <a:ext cx="9330268" cy="52887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Dashboard 1 — What It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The first dashboard is designed for executive monitoring and commercial performance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965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Revenue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216152"/>
            <a:ext cx="873252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₹217.39 Cr gross order value and ₹204.39 Cr net sales after discounts provide the commercial baseline.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73352"/>
            <a:ext cx="1069848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39112"/>
            <a:ext cx="1965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Revenue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20824"/>
            <a:ext cx="873252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Antibiotic, Cardiac and NSAID categories together contribute ~45.4% of analyzed gross order 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78024"/>
            <a:ext cx="1069848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843784"/>
            <a:ext cx="1965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Production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825496"/>
            <a:ext cx="873252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54.31M units across 2,500 production batches show the scale of manufacturing activity.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82696"/>
            <a:ext cx="1069848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648456"/>
            <a:ext cx="1965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630168"/>
            <a:ext cx="873252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95.84% QC pass rate indicates strong overall pass performance, while 104 non-pass QC records remain exceptions for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087368"/>
            <a:ext cx="1069848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453128"/>
            <a:ext cx="1965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434840"/>
            <a:ext cx="873252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66.57% on-time delivery is calculated only on shipments with both actual and expected delivery dates; 478 completed shipments were late.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892040"/>
            <a:ext cx="1069848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1965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Customer concentration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239512"/>
            <a:ext cx="873252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Top 10 customers account for ~7.5% of gross order value, indicating a relatively diversified customer base.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696712"/>
            <a:ext cx="1069848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2396554" cy="16773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B6573"/>
                </a:solidFill>
                <a:latin typeface="Aptos"/>
              </a:rPr>
              <a:t>Pharma Supply Chain Analytics  •  Krish Gurjar  •  </a:t>
            </a:r>
            <a:r>
              <a:rPr lang="en-IN" sz="850" dirty="0">
                <a:solidFill>
                  <a:srgbClr val="5B6573"/>
                </a:solidFill>
                <a:latin typeface="Aptos"/>
              </a:rPr>
              <a:t>9</a:t>
            </a:r>
            <a:endParaRPr sz="850" b="0" dirty="0">
              <a:solidFill>
                <a:srgbClr val="5B65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Power BI Dashboard 2 — Inventory, Quality &amp; Logistics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Operational risk, supplier cost, stock status, courier performance and batch-level expiry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2454262" cy="16773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B6573"/>
                </a:solidFill>
                <a:latin typeface="Aptos"/>
              </a:rPr>
              <a:t>Pharma Supply Chain Analytics  •  Krish Gurjar  •  1</a:t>
            </a:r>
            <a:r>
              <a:rPr lang="en-IN" sz="850" b="0" dirty="0">
                <a:solidFill>
                  <a:srgbClr val="5B6573"/>
                </a:solidFill>
                <a:latin typeface="Aptos"/>
              </a:rPr>
              <a:t>0</a:t>
            </a:r>
            <a:endParaRPr sz="850" b="0" dirty="0">
              <a:solidFill>
                <a:srgbClr val="5B6573"/>
              </a:solidFill>
              <a:latin typeface="Apto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2A8E50-05F3-5BE7-F06D-9D45D9068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1161288"/>
            <a:ext cx="9128834" cy="51671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Dashboard 2 — Risk &amp; Control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The second dashboard moves from executive totals to exception-oriented operational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257800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399032"/>
            <a:ext cx="48920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Shelf-life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716458"/>
            <a:ext cx="4512517" cy="3600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3.85M units of on-hand inventory fall inside the &gt;70% shelf-life screening rule,</a:t>
            </a:r>
            <a:br>
              <a:rPr lang="en-US" sz="1050" b="0" dirty="0">
                <a:solidFill>
                  <a:srgbClr val="1F2937"/>
                </a:solidFill>
                <a:latin typeface="Aptos"/>
              </a:rPr>
            </a:br>
            <a:r>
              <a:rPr sz="1050" b="0" dirty="0">
                <a:solidFill>
                  <a:srgbClr val="1F2937"/>
                </a:solidFill>
                <a:latin typeface="Aptos"/>
              </a:rPr>
              <a:t> equal to ~79.3% of total on-hand quantity.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257800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6792" y="1399032"/>
            <a:ext cx="48920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Potential dead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855" y="1716458"/>
            <a:ext cx="4087722" cy="3600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118 production batches were never matched to an order-detail record </a:t>
            </a:r>
            <a:br>
              <a:rPr lang="en-US" sz="1050" b="0" dirty="0">
                <a:solidFill>
                  <a:srgbClr val="1F2937"/>
                </a:solidFill>
                <a:latin typeface="Aptos"/>
              </a:rPr>
            </a:br>
            <a:r>
              <a:rPr sz="1050" b="0" dirty="0">
                <a:solidFill>
                  <a:srgbClr val="1F2937"/>
                </a:solidFill>
                <a:latin typeface="Aptos"/>
              </a:rPr>
              <a:t>and are therefore candidates for operational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788920"/>
            <a:ext cx="5257800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2953512"/>
            <a:ext cx="48920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291839"/>
            <a:ext cx="4541371" cy="3600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34 of 46 suppliers exceed the ₹10,000 average material-cost review threshold;</a:t>
            </a:r>
            <a:br>
              <a:rPr lang="en-US" sz="1050" b="0" dirty="0">
                <a:solidFill>
                  <a:srgbClr val="1F2937"/>
                </a:solidFill>
                <a:latin typeface="Aptos"/>
              </a:rPr>
            </a:br>
            <a:r>
              <a:rPr sz="1050" b="0" dirty="0">
                <a:solidFill>
                  <a:srgbClr val="1F2937"/>
                </a:solidFill>
                <a:latin typeface="Aptos"/>
              </a:rPr>
              <a:t> this is a prioritization signal, not proof of overpricing.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788920"/>
            <a:ext cx="5257800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2953512"/>
            <a:ext cx="48920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Inventory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291839"/>
            <a:ext cx="489204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Available stock is 1.93M units; Reserved 1.01M; Quarantine 0.98M; Damaged 0.94M.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343400"/>
            <a:ext cx="5257800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507992"/>
            <a:ext cx="48920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Logistics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828032"/>
            <a:ext cx="4365041" cy="3600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478 completed shipments were late. Courier on-time performance can be</a:t>
            </a:r>
            <a:r>
              <a:rPr lang="en-US" sz="1050" b="0" dirty="0">
                <a:solidFill>
                  <a:srgbClr val="1F2937"/>
                </a:solidFill>
                <a:latin typeface="Aptos"/>
              </a:rPr>
              <a:t> –</a:t>
            </a:r>
            <a:br>
              <a:rPr lang="en-US" sz="1050" b="0" dirty="0">
                <a:solidFill>
                  <a:srgbClr val="1F2937"/>
                </a:solidFill>
                <a:latin typeface="Aptos"/>
              </a:rPr>
            </a:br>
            <a:r>
              <a:rPr sz="1050" b="0" dirty="0">
                <a:solidFill>
                  <a:srgbClr val="1F2937"/>
                </a:solidFill>
                <a:latin typeface="Aptos"/>
              </a:rPr>
              <a:t> compared in the dashboard to focus service reviews.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343400"/>
            <a:ext cx="5257800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4507992"/>
            <a:ext cx="48920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Exception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846320"/>
            <a:ext cx="4623125" cy="3600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Batch-level expiry dates, warehouse and quantity-on-hand provide a practical </a:t>
            </a:r>
            <a:r>
              <a:rPr lang="en-US" sz="1050" b="0" dirty="0">
                <a:solidFill>
                  <a:srgbClr val="1F2937"/>
                </a:solidFill>
                <a:latin typeface="Aptos"/>
              </a:rPr>
              <a:t>– </a:t>
            </a:r>
            <a:br>
              <a:rPr lang="en-US" sz="1050" b="0" dirty="0">
                <a:solidFill>
                  <a:srgbClr val="1F2937"/>
                </a:solidFill>
                <a:latin typeface="Aptos"/>
              </a:rPr>
            </a:br>
            <a:r>
              <a:rPr sz="1050" b="0" dirty="0">
                <a:solidFill>
                  <a:srgbClr val="1F2937"/>
                </a:solidFill>
                <a:latin typeface="Aptos"/>
              </a:rPr>
              <a:t>shortlist for FEFO/near-expiry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2454262" cy="16773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B6573"/>
                </a:solidFill>
                <a:latin typeface="Aptos"/>
              </a:rPr>
              <a:t>Pharma Supply Chain Analytics  •  Krish Gurjar  •  1</a:t>
            </a:r>
            <a:r>
              <a:rPr lang="en-IN" sz="850" b="0" dirty="0">
                <a:solidFill>
                  <a:srgbClr val="5B6573"/>
                </a:solidFill>
                <a:latin typeface="Aptos"/>
              </a:rPr>
              <a:t>1</a:t>
            </a:r>
            <a:endParaRPr sz="850" b="0" dirty="0">
              <a:solidFill>
                <a:srgbClr val="5B6573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333770-6041-43CB-1847-E239F54C861A}"/>
              </a:ext>
            </a:extLst>
          </p:cNvPr>
          <p:cNvSpPr txBox="1"/>
          <p:nvPr/>
        </p:nvSpPr>
        <p:spPr>
          <a:xfrm>
            <a:off x="6345855" y="5317067"/>
            <a:ext cx="33484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FEFO : first expired , first out</a:t>
            </a:r>
          </a:p>
          <a:p>
            <a:endParaRPr lang="en-IN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Power BI &amp; DAX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The PBIX contains two dashboard pages, a DateTable and a dedicated Measures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828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216152"/>
            <a:ext cx="89154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Relationships across production, inventory, orders, products, customers, suppliers, warehouses, QC and shipments.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828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Date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975104"/>
            <a:ext cx="4692054" cy="2062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dirty="0" err="1">
                <a:solidFill>
                  <a:srgbClr val="1F2937"/>
                </a:solidFill>
                <a:latin typeface="Aptos"/>
              </a:rPr>
              <a:t>DateTable</a:t>
            </a:r>
            <a:r>
              <a:rPr sz="1100" b="0" dirty="0">
                <a:solidFill>
                  <a:srgbClr val="1F2937"/>
                </a:solidFill>
                <a:latin typeface="Aptos"/>
              </a:rPr>
              <a:t>  logic supports month-level analysis and operational date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52344"/>
            <a:ext cx="1828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DAX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734056"/>
            <a:ext cx="89154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Gross Revenue, Net Sales, Production Units, Inventory on Hand, QC Pass Rate, On-Time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11296"/>
            <a:ext cx="1828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Risk 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493008"/>
            <a:ext cx="89154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Shelf Life Risk Units, Dead Stock Candidates, Dead Stock Quantity, High-Cost Suppliers, QC Exceptions, Late Shipments.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70248"/>
            <a:ext cx="1828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Interactive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251960"/>
            <a:ext cx="89154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Therapeutic category, warehouse, customer type, stock status, courier and month slicers.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29200"/>
            <a:ext cx="1828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Visual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5010912"/>
            <a:ext cx="89154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KPI cards, category bars, status donut, supplier-cost ranking, courier performance and exception 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2454262" cy="16773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B6573"/>
                </a:solidFill>
                <a:latin typeface="Aptos"/>
              </a:rPr>
              <a:t>Pharma Supply Chain Analytics  •  Krish Gurjar  •  1</a:t>
            </a:r>
            <a:r>
              <a:rPr lang="en-IN" sz="850" b="0" dirty="0">
                <a:solidFill>
                  <a:srgbClr val="5B6573"/>
                </a:solidFill>
                <a:latin typeface="Aptos"/>
              </a:rPr>
              <a:t>2</a:t>
            </a:r>
            <a:endParaRPr sz="850" b="0" dirty="0">
              <a:solidFill>
                <a:srgbClr val="5B65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Integrated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Combining SQL findings with the Power BI layer creates a coherent decision 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2920"/>
          </a:xfrm>
          <a:prstGeom prst="roundRect">
            <a:avLst/>
          </a:prstGeom>
          <a:solidFill>
            <a:srgbClr val="0B3A66"/>
          </a:solidFill>
          <a:ln>
            <a:solidFill>
              <a:srgbClr val="0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554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Business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280160"/>
            <a:ext cx="2926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56692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Management implication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10972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73936"/>
            <a:ext cx="15544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1">
                <a:solidFill>
                  <a:srgbClr val="0B3A66"/>
                </a:solidFill>
                <a:latin typeface="Aptos"/>
              </a:rPr>
              <a:t>Working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755648"/>
            <a:ext cx="2252283" cy="1860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1" dirty="0">
                <a:solidFill>
                  <a:srgbClr val="1688E8"/>
                </a:solidFill>
                <a:latin typeface="Aptos"/>
              </a:rPr>
              <a:t>3.8</a:t>
            </a:r>
            <a:r>
              <a:rPr lang="en-IN" sz="969" b="1" dirty="0">
                <a:solidFill>
                  <a:srgbClr val="1688E8"/>
                </a:solidFill>
                <a:latin typeface="Aptos"/>
              </a:rPr>
              <a:t>7</a:t>
            </a:r>
            <a:r>
              <a:rPr sz="969" b="1" dirty="0">
                <a:solidFill>
                  <a:srgbClr val="1688E8"/>
                </a:solidFill>
                <a:latin typeface="Aptos"/>
              </a:rPr>
              <a:t>M units / 79.3% of on-hand 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737360"/>
            <a:ext cx="56692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0" b="0">
                <a:solidFill>
                  <a:srgbClr val="1F2937"/>
                </a:solidFill>
                <a:latin typeface="Aptos"/>
              </a:rPr>
              <a:t>Prioritize aging inventory and demand alignment.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12848"/>
            <a:ext cx="10972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40864"/>
            <a:ext cx="15544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1">
                <a:solidFill>
                  <a:srgbClr val="0B3A66"/>
                </a:solidFill>
                <a:latin typeface="Aptos"/>
              </a:rPr>
              <a:t>Expiry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322576"/>
            <a:ext cx="2743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1">
                <a:solidFill>
                  <a:srgbClr val="1688E8"/>
                </a:solidFill>
                <a:latin typeface="Aptos"/>
              </a:rPr>
              <a:t>247 batches expire within 90 days of 2026-08-30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304288"/>
            <a:ext cx="56692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0" b="0">
                <a:solidFill>
                  <a:srgbClr val="1F2937"/>
                </a:solidFill>
                <a:latin typeface="Aptos"/>
              </a:rPr>
              <a:t>Build a near-expiry exception queue and FEFO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79776"/>
            <a:ext cx="10972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907792"/>
            <a:ext cx="15544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1">
                <a:solidFill>
                  <a:srgbClr val="0B3A66"/>
                </a:solidFill>
                <a:latin typeface="Aptos"/>
              </a:rPr>
              <a:t>Dead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889504"/>
            <a:ext cx="2743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1">
                <a:solidFill>
                  <a:srgbClr val="1688E8"/>
                </a:solidFill>
                <a:latin typeface="Aptos"/>
              </a:rPr>
              <a:t>118 candidate batches / 2.81M produced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871216"/>
            <a:ext cx="56692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0" b="0">
                <a:solidFill>
                  <a:srgbClr val="1F2937"/>
                </a:solidFill>
                <a:latin typeface="Aptos"/>
              </a:rPr>
              <a:t>Validate demand, batch status and commercial utility before write-off.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46704"/>
            <a:ext cx="10972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474720"/>
            <a:ext cx="15544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1">
                <a:solidFill>
                  <a:srgbClr val="0B3A66"/>
                </a:solidFill>
                <a:latin typeface="Aptos"/>
              </a:rPr>
              <a:t>Procurement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456432"/>
            <a:ext cx="2743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1">
                <a:solidFill>
                  <a:srgbClr val="1688E8"/>
                </a:solidFill>
                <a:latin typeface="Aptos"/>
              </a:rPr>
              <a:t>34 suppliers above ₹10K average material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438144"/>
            <a:ext cx="56692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0" b="0">
                <a:solidFill>
                  <a:srgbClr val="1F2937"/>
                </a:solidFill>
                <a:latin typeface="Aptos"/>
              </a:rPr>
              <a:t>Segment by cost, volume and strategic importance before negotiation.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913632"/>
            <a:ext cx="10972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041648"/>
            <a:ext cx="15544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1">
                <a:solidFill>
                  <a:srgbClr val="0B3A66"/>
                </a:solidFill>
                <a:latin typeface="Aptos"/>
              </a:rPr>
              <a:t>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023360"/>
            <a:ext cx="2743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1">
                <a:solidFill>
                  <a:srgbClr val="1688E8"/>
                </a:solidFill>
                <a:latin typeface="Aptos"/>
              </a:rPr>
              <a:t>95.84% QC pass rate / 104 exceptions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005072"/>
            <a:ext cx="56692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0" b="0">
                <a:solidFill>
                  <a:srgbClr val="1F2937"/>
                </a:solidFill>
                <a:latin typeface="Aptos"/>
              </a:rPr>
              <a:t>Review rework/fail records and preserve exception traceability.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480560"/>
            <a:ext cx="10972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608576"/>
            <a:ext cx="15544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1">
                <a:solidFill>
                  <a:srgbClr val="0B3A66"/>
                </a:solidFill>
                <a:latin typeface="Aptos"/>
              </a:rPr>
              <a:t>Logistics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590288"/>
            <a:ext cx="2743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1">
                <a:solidFill>
                  <a:srgbClr val="1688E8"/>
                </a:solidFill>
                <a:latin typeface="Aptos"/>
              </a:rPr>
              <a:t>66.57% on-time / 478 late completed shipments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572000"/>
            <a:ext cx="56692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0" b="0">
                <a:solidFill>
                  <a:srgbClr val="1F2937"/>
                </a:solidFill>
                <a:latin typeface="Aptos"/>
              </a:rPr>
              <a:t>Review courier/service patterns and delivery-date completeness.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047488"/>
            <a:ext cx="10972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175503"/>
            <a:ext cx="15544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1">
                <a:solidFill>
                  <a:srgbClr val="0B3A66"/>
                </a:solidFill>
                <a:latin typeface="Aptos"/>
              </a:rPr>
              <a:t>Revenue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5157216"/>
            <a:ext cx="2743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1">
                <a:solidFill>
                  <a:srgbClr val="1688E8"/>
                </a:solidFill>
                <a:latin typeface="Aptos"/>
              </a:rPr>
              <a:t>Top 3 therapeutic categories ≈45.4% of order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138927"/>
            <a:ext cx="56692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0" b="0">
                <a:solidFill>
                  <a:srgbClr val="1F2937"/>
                </a:solidFill>
                <a:latin typeface="Aptos"/>
              </a:rPr>
              <a:t>Protect high-value categories while monitoring mix and demand.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614416"/>
            <a:ext cx="10972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742431"/>
            <a:ext cx="15544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1">
                <a:solidFill>
                  <a:srgbClr val="0B3A66"/>
                </a:solidFill>
                <a:latin typeface="Aptos"/>
              </a:rPr>
              <a:t>Customer concentration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724144"/>
            <a:ext cx="2743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9" b="1">
                <a:solidFill>
                  <a:srgbClr val="1688E8"/>
                </a:solidFill>
                <a:latin typeface="Aptos"/>
              </a:rPr>
              <a:t>Top 10 ≈7.5% of order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705855"/>
            <a:ext cx="56692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60" b="0">
                <a:solidFill>
                  <a:srgbClr val="1F2937"/>
                </a:solidFill>
                <a:latin typeface="Aptos"/>
              </a:rPr>
              <a:t>Revenue is relatively diversified; focus on category and operational drivers.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37960"/>
            <a:ext cx="2454262" cy="16773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B6573"/>
                </a:solidFill>
                <a:latin typeface="Aptos"/>
              </a:rPr>
              <a:t>Pharma Supply Chain Analytics  •  Krish Gurjar  •  1</a:t>
            </a:r>
            <a:r>
              <a:rPr lang="en-IN" sz="850" b="0" dirty="0">
                <a:solidFill>
                  <a:srgbClr val="5B6573"/>
                </a:solidFill>
                <a:latin typeface="Aptos"/>
              </a:rPr>
              <a:t>3</a:t>
            </a:r>
            <a:endParaRPr sz="850" b="0" dirty="0">
              <a:solidFill>
                <a:srgbClr val="5B65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Business Recommendations &amp; Improvement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Move from one-time analysis to recurring operational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525780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688E8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53312"/>
            <a:ext cx="4251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Protect cash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3525068" cy="353943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0" dirty="0">
                <a:solidFill>
                  <a:srgbClr val="1F2937"/>
                </a:solidFill>
                <a:latin typeface="Aptos"/>
              </a:rPr>
              <a:t>Prioritize near-expiry and aging inventory; use demand-aware </a:t>
            </a:r>
            <a:br>
              <a:rPr lang="en-US" sz="1030" b="0" dirty="0">
                <a:solidFill>
                  <a:srgbClr val="1F2937"/>
                </a:solidFill>
                <a:latin typeface="Aptos"/>
              </a:rPr>
            </a:br>
            <a:r>
              <a:rPr sz="1030" b="0" dirty="0">
                <a:solidFill>
                  <a:srgbClr val="1F2937"/>
                </a:solidFill>
                <a:latin typeface="Aptos"/>
              </a:rPr>
              <a:t>stock rotation / FEFO where appropriate.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353312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688E8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53312"/>
            <a:ext cx="4251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Reduce dead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19072"/>
            <a:ext cx="3957878" cy="353943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0" dirty="0">
                <a:solidFill>
                  <a:srgbClr val="1F2937"/>
                </a:solidFill>
                <a:latin typeface="Aptos"/>
              </a:rPr>
              <a:t>Create an exception queue for unsold batches; validate commercial</a:t>
            </a:r>
            <a:r>
              <a:rPr lang="en-US" sz="1030" b="0" dirty="0">
                <a:solidFill>
                  <a:srgbClr val="1F2937"/>
                </a:solidFill>
                <a:latin typeface="Aptos"/>
              </a:rPr>
              <a:t> –</a:t>
            </a:r>
            <a:br>
              <a:rPr lang="en-US" sz="1030" b="0" dirty="0">
                <a:solidFill>
                  <a:srgbClr val="1F2937"/>
                </a:solidFill>
                <a:latin typeface="Aptos"/>
              </a:rPr>
            </a:br>
            <a:r>
              <a:rPr sz="1030" b="0" dirty="0">
                <a:solidFill>
                  <a:srgbClr val="1F2937"/>
                </a:solidFill>
                <a:latin typeface="Aptos"/>
              </a:rPr>
              <a:t> utility before disposal or write-off.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88920"/>
            <a:ext cx="525780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953512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688E8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53512"/>
            <a:ext cx="4251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Optimize sourcing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64408"/>
            <a:ext cx="3448123" cy="353943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0" dirty="0">
                <a:solidFill>
                  <a:srgbClr val="1F2937"/>
                </a:solidFill>
                <a:latin typeface="Aptos"/>
              </a:rPr>
              <a:t>Review high-cost suppliers using cost, volume, quality and </a:t>
            </a:r>
            <a:r>
              <a:rPr lang="en-US" sz="1030" b="0" dirty="0">
                <a:solidFill>
                  <a:srgbClr val="1F2937"/>
                </a:solidFill>
                <a:latin typeface="Aptos"/>
              </a:rPr>
              <a:t>– </a:t>
            </a:r>
            <a:br>
              <a:rPr lang="en-US" sz="1030" b="0" dirty="0">
                <a:solidFill>
                  <a:srgbClr val="1F2937"/>
                </a:solidFill>
                <a:latin typeface="Aptos"/>
              </a:rPr>
            </a:br>
            <a:r>
              <a:rPr sz="1030" b="0" dirty="0">
                <a:solidFill>
                  <a:srgbClr val="1F2937"/>
                </a:solidFill>
                <a:latin typeface="Aptos"/>
              </a:rPr>
              <a:t>strategic dependency—not cost alone.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88920"/>
            <a:ext cx="525780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2953512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688E8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53512"/>
            <a:ext cx="4251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Improve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319272"/>
            <a:ext cx="3815212" cy="353943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0" dirty="0">
                <a:solidFill>
                  <a:srgbClr val="1F2937"/>
                </a:solidFill>
                <a:latin typeface="Aptos"/>
              </a:rPr>
              <a:t>Investigate late shipments by courier, route, warehouse and date </a:t>
            </a:r>
            <a:r>
              <a:rPr lang="en-US" sz="1030" b="0" dirty="0">
                <a:solidFill>
                  <a:srgbClr val="1F2937"/>
                </a:solidFill>
                <a:latin typeface="Aptos"/>
              </a:rPr>
              <a:t>– </a:t>
            </a:r>
            <a:br>
              <a:rPr lang="en-US" sz="1030" b="0" dirty="0">
                <a:solidFill>
                  <a:srgbClr val="1F2937"/>
                </a:solidFill>
                <a:latin typeface="Aptos"/>
              </a:rPr>
            </a:br>
            <a:r>
              <a:rPr sz="1030" b="0" dirty="0">
                <a:solidFill>
                  <a:srgbClr val="1F2937"/>
                </a:solidFill>
                <a:latin typeface="Aptos"/>
              </a:rPr>
              <a:t>completeness; monitor on-time KPIs.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389120"/>
            <a:ext cx="525780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4553712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688E8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53712"/>
            <a:ext cx="4251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Strengthen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19472"/>
            <a:ext cx="4297680" cy="5486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0">
                <a:solidFill>
                  <a:srgbClr val="1F2937"/>
                </a:solidFill>
                <a:latin typeface="Aptos"/>
              </a:rPr>
              <a:t>Track rework/fail exceptions by product and batch; preserve QC traceability.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389120"/>
            <a:ext cx="525780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4553712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688E8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553712"/>
            <a:ext cx="4251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B3A66"/>
                </a:solidFill>
                <a:latin typeface="Aptos"/>
              </a:rPr>
              <a:t>Scale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919472"/>
            <a:ext cx="4201535" cy="353943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30" b="0" dirty="0">
                <a:solidFill>
                  <a:srgbClr val="1F2937"/>
                </a:solidFill>
                <a:latin typeface="Aptos"/>
              </a:rPr>
              <a:t>Publish the Power BI KPIs with scheduled refresh and recurring exception</a:t>
            </a:r>
            <a:r>
              <a:rPr lang="en-US" sz="1030" b="0" dirty="0">
                <a:solidFill>
                  <a:srgbClr val="1F2937"/>
                </a:solidFill>
                <a:latin typeface="Aptos"/>
              </a:rPr>
              <a:t> </a:t>
            </a:r>
          </a:p>
          <a:p>
            <a:pPr algn="l"/>
            <a:r>
              <a:rPr sz="1030" b="0" dirty="0">
                <a:solidFill>
                  <a:srgbClr val="1F2937"/>
                </a:solidFill>
                <a:latin typeface="Aptos"/>
              </a:rPr>
              <a:t> reporting.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2454262" cy="16773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B6573"/>
                </a:solidFill>
                <a:latin typeface="Aptos"/>
              </a:rPr>
              <a:t>Pharma Supply Chain Analytics  •  Krish Gurjar  •  1</a:t>
            </a:r>
            <a:r>
              <a:rPr lang="en-IN" sz="850" b="0" dirty="0">
                <a:solidFill>
                  <a:srgbClr val="5B6573"/>
                </a:solidFill>
                <a:latin typeface="Aptos"/>
              </a:rPr>
              <a:t>4</a:t>
            </a:r>
            <a:endParaRPr sz="850" b="0" dirty="0">
              <a:solidFill>
                <a:srgbClr val="5B65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Data Quality, Definitions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A professional analysis separates observed facts from screening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2423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80" b="1">
                <a:solidFill>
                  <a:srgbClr val="0B3A66"/>
                </a:solidFill>
                <a:latin typeface="Aptos"/>
              </a:rPr>
              <a:t>Missing manufacturing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124712"/>
            <a:ext cx="822960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1F2937"/>
                </a:solidFill>
                <a:latin typeface="Aptos"/>
              </a:rPr>
              <a:t>81 production-batch records have missing Manufacturing_date; age/shelf-life calculations are not fully observed for every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56232"/>
            <a:ext cx="2423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80" b="1">
                <a:solidFill>
                  <a:srgbClr val="0B3A66"/>
                </a:solidFill>
                <a:latin typeface="Aptos"/>
              </a:rPr>
              <a:t>Missing expiry 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37944"/>
            <a:ext cx="822960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1F2937"/>
                </a:solidFill>
                <a:latin typeface="Aptos"/>
              </a:rPr>
              <a:t>77 production-batch records have missing Expiry_date; these remain blank in the Power BI exception table rather than being invented.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9464"/>
            <a:ext cx="2423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80" b="1">
                <a:solidFill>
                  <a:srgbClr val="0B3A66"/>
                </a:solidFill>
                <a:latin typeface="Aptos"/>
              </a:rPr>
              <a:t>Delivery-date completeness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551176"/>
            <a:ext cx="822960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1F2937"/>
                </a:solidFill>
                <a:latin typeface="Aptos"/>
              </a:rPr>
              <a:t>1,519 of 3,000 shipment rows have no actual delivery date; the 66.57% on-time metric uses only 1,430 shipments with both actual and expected 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82696"/>
            <a:ext cx="2423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80" b="1">
                <a:solidFill>
                  <a:srgbClr val="0B3A66"/>
                </a:solidFill>
                <a:latin typeface="Aptos"/>
              </a:rPr>
              <a:t>Shelf-life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264408"/>
            <a:ext cx="822960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1F2937"/>
                </a:solidFill>
                <a:latin typeface="Aptos"/>
              </a:rPr>
              <a:t>&gt;70% shelf-life is a screening rule based on manufacturing and expiry dates plus inventory quantity; it is not a confirmed expiry event.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95928"/>
            <a:ext cx="2423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80" b="1">
                <a:solidFill>
                  <a:srgbClr val="0B3A66"/>
                </a:solidFill>
                <a:latin typeface="Aptos"/>
              </a:rPr>
              <a:t>Dead-stock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977640"/>
            <a:ext cx="822960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1F2937"/>
                </a:solidFill>
                <a:latin typeface="Aptos"/>
              </a:rPr>
              <a:t>118 batches are candidates because their batch_id never appears in order details; operational validation is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09160"/>
            <a:ext cx="2423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80" b="1">
                <a:solidFill>
                  <a:srgbClr val="0B3A66"/>
                </a:solidFill>
                <a:latin typeface="Aptos"/>
              </a:rPr>
              <a:t>Supplier cost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690872"/>
            <a:ext cx="822960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1F2937"/>
                </a:solidFill>
                <a:latin typeface="Aptos"/>
              </a:rPr>
              <a:t>₹10,000 is a review threshold; crossing it does not prove a supplier is overpriced.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22392"/>
            <a:ext cx="2423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80" b="1">
                <a:solidFill>
                  <a:srgbClr val="0B3A66"/>
                </a:solidFill>
                <a:latin typeface="Aptos"/>
              </a:rPr>
              <a:t>SQL QC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5404104"/>
            <a:ext cx="822960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1F2937"/>
                </a:solidFill>
                <a:latin typeface="Aptos"/>
              </a:rPr>
              <a:t>The original SQL QC bucketing uses integer arithmetic in SQL Server; Power BI provides the displayed 95.84% metric with percentage precision.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2454262" cy="16773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B6573"/>
                </a:solidFill>
                <a:latin typeface="Aptos"/>
              </a:rPr>
              <a:t>Pharma Supply Chain Analytics  •  Krish Gurjar  •  1</a:t>
            </a:r>
            <a:r>
              <a:rPr lang="en-IN" sz="850" b="0" dirty="0">
                <a:solidFill>
                  <a:srgbClr val="5B6573"/>
                </a:solidFill>
                <a:latin typeface="Aptos"/>
              </a:rPr>
              <a:t>5</a:t>
            </a:r>
            <a:endParaRPr sz="850" b="0" dirty="0">
              <a:solidFill>
                <a:srgbClr val="5B65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B3A66"/>
                </a:solidFill>
                <a:latin typeface="Aptos"/>
              </a:rPr>
              <a:t>Final Portfolio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Aptos"/>
              </a:rPr>
              <a:t>The project demonstrates an end-to-end analyst workflow, not only a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389888"/>
            <a:ext cx="1508760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0B3A66"/>
                </a:solidFill>
                <a:latin typeface="Aptos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344168"/>
            <a:ext cx="86410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11 cleaned Excel tables covering 21,104 rows across the supply-chain domain.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47672"/>
            <a:ext cx="1083564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1508760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0B3A66"/>
                </a:solidFill>
                <a:latin typeface="Aptos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057400"/>
            <a:ext cx="86410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13 business questions using joins, aggregation, CTE, CASE, window functions and date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60904"/>
            <a:ext cx="1083564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816352"/>
            <a:ext cx="1508760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0B3A66"/>
                </a:solidFill>
                <a:latin typeface="Aptos"/>
              </a:rPr>
              <a:t>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770632"/>
            <a:ext cx="86410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2 interactive dashboards with DAX KPIs, slicers, time analysis and exception reporting.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74136"/>
            <a:ext cx="1083564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529584"/>
            <a:ext cx="1508760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0B3A66"/>
                </a:solidFill>
                <a:latin typeface="Aptos"/>
              </a:rPr>
              <a:t>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483864"/>
            <a:ext cx="86410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Executive case study combining methodology, findings, business insights and recommendations.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87368"/>
            <a:ext cx="1083564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242816"/>
            <a:ext cx="1508760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0B3A66"/>
                </a:solidFill>
                <a:latin typeface="Aptos"/>
              </a:rPr>
              <a:t>README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197096"/>
            <a:ext cx="86410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Documented project objective, data, workflow, SQL scope, Power BI layer, findings and limitations.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00600"/>
            <a:ext cx="1083564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956048"/>
            <a:ext cx="1508760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0B3A66"/>
                </a:solidFill>
                <a:latin typeface="Aptos"/>
              </a:rPr>
              <a:t>Portfolio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910328"/>
            <a:ext cx="86410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Shows the ability to translate raw operational data into decision-oriented business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715000"/>
            <a:ext cx="10835640" cy="457200"/>
          </a:xfrm>
          <a:prstGeom prst="roundRect">
            <a:avLst/>
          </a:prstGeom>
          <a:solidFill>
            <a:srgbClr val="0B3A66"/>
          </a:solidFill>
          <a:ln>
            <a:solidFill>
              <a:srgbClr val="0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843016"/>
            <a:ext cx="10469880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Outcome: SQL-driven analysis → Power BI monitoring → prioritized business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2454262" cy="16773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B6573"/>
                </a:solidFill>
                <a:latin typeface="Aptos"/>
              </a:rPr>
              <a:t>Pharma Supply Chain Analytics  •  Krish Gurjar  •  1</a:t>
            </a:r>
            <a:r>
              <a:rPr lang="en-IN" sz="850" b="0" dirty="0">
                <a:solidFill>
                  <a:srgbClr val="5B6573"/>
                </a:solidFill>
                <a:latin typeface="Aptos"/>
              </a:rPr>
              <a:t>6</a:t>
            </a:r>
            <a:endParaRPr sz="850" b="0" dirty="0">
              <a:solidFill>
                <a:srgbClr val="5B65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A66"/>
          </a:solidFill>
          <a:ln>
            <a:solidFill>
              <a:srgbClr val="0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CDE6FA"/>
                </a:solidFill>
                <a:latin typeface="Aptos"/>
              </a:rPr>
              <a:t>PHARMACEUTICAL SUPPLY CHAIN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1234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Turning operational data
into business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0245" y="3703320"/>
            <a:ext cx="6121035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400" b="0" dirty="0">
                <a:solidFill>
                  <a:srgbClr val="DCEBFA"/>
                </a:solidFill>
                <a:latin typeface="Aptos"/>
              </a:rPr>
              <a:t>Data Preparation </a:t>
            </a:r>
            <a:r>
              <a:rPr lang="en-IN" sz="1400" dirty="0">
                <a:solidFill>
                  <a:srgbClr val="DCEBFA"/>
                </a:solidFill>
                <a:latin typeface="Aptos"/>
              </a:rPr>
              <a:t>• Power Query </a:t>
            </a:r>
            <a:r>
              <a:rPr sz="1400" b="0" dirty="0">
                <a:solidFill>
                  <a:srgbClr val="DCEBFA"/>
                </a:solidFill>
                <a:latin typeface="Aptos"/>
              </a:rPr>
              <a:t> •  SQL  •  Power BI  •  DAX  •  Business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14984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Krish Gurjar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32120"/>
            <a:ext cx="9966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0" dirty="0">
                <a:solidFill>
                  <a:srgbClr val="CDE6FA"/>
                </a:solidFill>
                <a:latin typeface="Aptos"/>
              </a:rPr>
              <a:t>Data Analyst Portfolio Case Study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2179</Words>
  <Application>Microsoft Office PowerPoint</Application>
  <PresentationFormat>Widescreen</PresentationFormat>
  <Paragraphs>299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 GURJER</cp:lastModifiedBy>
  <cp:revision>17</cp:revision>
  <dcterms:created xsi:type="dcterms:W3CDTF">2013-01-27T09:14:16Z</dcterms:created>
  <dcterms:modified xsi:type="dcterms:W3CDTF">2026-09-06T11:41:21Z</dcterms:modified>
  <cp:category/>
</cp:coreProperties>
</file>