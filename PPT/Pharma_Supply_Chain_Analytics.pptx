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619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5195D-4C84-43F2-BB2F-068A02AAFFB9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A27A0-53D6-4156-B569-BEC498368F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467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59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2BEB9"/>
                </a:solidFill>
                <a:latin typeface="Aptos"/>
              </a:defRPr>
            </a:pPr>
            <a:r>
              <a:t>END-TO-END DATA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Pharmaceutical Supply Chain</a:t>
            </a:r>
            <a:br/>
            <a: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7E1E8"/>
                </a:solidFill>
                <a:latin typeface="Aptos"/>
              </a:defRPr>
            </a:pPr>
            <a:r>
              <a:t>SQL-driven analysis across sourcing, manufacturing, inventory and order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86200"/>
            <a:ext cx="3337560" cy="1143000"/>
          </a:xfrm>
          <a:prstGeom prst="roundRect">
            <a:avLst/>
          </a:prstGeom>
          <a:solidFill>
            <a:srgbClr val="1B2B3C"/>
          </a:solidFill>
          <a:ln>
            <a:solidFill>
              <a:srgbClr val="1B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3886200"/>
            <a:ext cx="73152" cy="114300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4032504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Business 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453128"/>
            <a:ext cx="2990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AEF"/>
                </a:solidFill>
                <a:latin typeface="Aptos"/>
              </a:defRPr>
            </a:pPr>
            <a:r>
              <a:t>Cost control • inventory risk • supplier review • operational reconciliation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886200"/>
            <a:ext cx="3337560" cy="1143000"/>
          </a:xfrm>
          <a:prstGeom prst="roundRect">
            <a:avLst/>
          </a:prstGeom>
          <a:solidFill>
            <a:srgbClr val="1B2B3C"/>
          </a:solidFill>
          <a:ln>
            <a:solidFill>
              <a:srgbClr val="1B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3886200"/>
            <a:ext cx="73152" cy="1143000"/>
          </a:xfrm>
          <a:prstGeom prst="rect">
            <a:avLst/>
          </a:prstGeom>
          <a:solidFill>
            <a:srgbClr val="DA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4032504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Analytical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4453128"/>
            <a:ext cx="299008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AEF"/>
                </a:solidFill>
                <a:latin typeface="Aptos"/>
              </a:defRPr>
            </a:pPr>
            <a:r>
              <a:t>SQL aggregation • joins • filtering • CASE logic • quality checks</a:t>
            </a:r>
            <a:r>
              <a:rPr lang="en-US"/>
              <a:t> , Window Fun.</a:t>
            </a: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63840" y="3886200"/>
            <a:ext cx="3337560" cy="1143000"/>
          </a:xfrm>
          <a:prstGeom prst="roundRect">
            <a:avLst/>
          </a:prstGeom>
          <a:solidFill>
            <a:srgbClr val="1B2B3C"/>
          </a:solidFill>
          <a:ln>
            <a:solidFill>
              <a:srgbClr val="1B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3886200"/>
            <a:ext cx="73152" cy="114300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65008" y="4032504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Portfolio lens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4453128"/>
            <a:ext cx="2990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AEF"/>
                </a:solidFill>
                <a:latin typeface="Aptos"/>
              </a:defRPr>
            </a:pPr>
            <a:r>
              <a:t>Built to demonstrate practical analyst thinking and decision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56248"/>
            <a:ext cx="297549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rPr dirty="0"/>
              <a:t>Pharma Supply Chain Analytics | SQL Portfolio</a:t>
            </a:r>
            <a:r>
              <a:rPr lang="en-US" dirty="0"/>
              <a:t> -  KRISH GURJAR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097280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C2D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8"/>
                </a:solidFill>
                <a:latin typeface="Aptos"/>
              </a:defRPr>
            </a:pPr>
            <a:r>
              <a:t>The analysis converts supply-chain records into measurable business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78608" cy="11430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63624"/>
            <a:ext cx="23591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827D"/>
                </a:solidFill>
                <a:latin typeface="Aptos Display"/>
              </a:defRPr>
            </a:pPr>
            <a:r>
              <a:t>₹217.39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75688"/>
            <a:ext cx="2359152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C78"/>
                </a:solidFill>
                <a:latin typeface="Aptos"/>
              </a:defRPr>
            </a:pPr>
            <a:r>
              <a:t>Order value reviewed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17320"/>
            <a:ext cx="2578608" cy="11430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563624"/>
            <a:ext cx="23591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A7830"/>
                </a:solidFill>
                <a:latin typeface="Aptos Display"/>
              </a:defRPr>
            </a:pPr>
            <a:r>
              <a:t>54.31M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75688"/>
            <a:ext cx="2359152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C78"/>
                </a:solidFill>
                <a:latin typeface="Aptos"/>
              </a:defRPr>
            </a:pPr>
            <a:r>
              <a:t>Production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417320"/>
            <a:ext cx="2578608" cy="11430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563624"/>
            <a:ext cx="23591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E4141"/>
                </a:solidFill>
                <a:latin typeface="Aptos Display"/>
              </a:defRPr>
            </a:pPr>
            <a:r>
              <a:t>3.85M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075688"/>
            <a:ext cx="2359152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C78"/>
                </a:solidFill>
                <a:latin typeface="Aptos"/>
              </a:defRPr>
            </a:pPr>
            <a:r>
              <a:t>Units under shelf-life risk screen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89136" y="1417320"/>
            <a:ext cx="2578608" cy="11430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98863" y="1563624"/>
            <a:ext cx="23591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78250"/>
                </a:solidFill>
                <a:latin typeface="Aptos Display"/>
              </a:defRPr>
            </a:pPr>
            <a:r>
              <a:t>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3" y="2075688"/>
            <a:ext cx="2359152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C78"/>
                </a:solidFill>
                <a:latin typeface="Aptos"/>
              </a:defRPr>
            </a:pPr>
            <a:r>
              <a:t>Potential dead-stock candidates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80360"/>
            <a:ext cx="3429000" cy="246888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880360"/>
            <a:ext cx="73152" cy="246888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02666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What the data says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447288"/>
            <a:ext cx="308152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Inventory and shelf-life exposure deserve active working-capital controls. A meaningful supplier subset crosses the cost-review threshold, while production and order data create opportunities for reconciliation and exception reporting.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880360"/>
            <a:ext cx="3429000" cy="246888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2880360"/>
            <a:ext cx="73152" cy="2468880"/>
          </a:xfrm>
          <a:prstGeom prst="rect">
            <a:avLst/>
          </a:prstGeom>
          <a:solidFill>
            <a:srgbClr val="DA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02666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What management can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447288"/>
            <a:ext cx="308152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Prioritize near-expiry inventory, investigate dead-stock candidates, review high-cost suppliers, and use recurring reconciliation checks between operational tables.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2880360"/>
            <a:ext cx="3429000" cy="246888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2880360"/>
            <a:ext cx="73152" cy="246888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9328" y="302666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Analyst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3447288"/>
            <a:ext cx="308152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The project demonstrates the ability to move from raw relational data → SQL logic → validated metrics → business recommendations.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8"/>
                </a:solidFill>
                <a:latin typeface="Aptos"/>
              </a:defRPr>
            </a:pPr>
            <a:r>
              <a:t>Pharma Supply Chain Analytics | SQL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C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C2D"/>
                </a:solidFill>
                <a:latin typeface="Aptos Display"/>
              </a:defRPr>
            </a:pPr>
            <a:r>
              <a:t>Supply Chain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8"/>
                </a:solidFill>
                <a:latin typeface="Aptos"/>
              </a:defRPr>
            </a:pPr>
            <a:r>
              <a:t>The project follows the flow from sourcing to production, inventory and orders.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05740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73152" cy="141732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655063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Suppliers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75688"/>
            <a:ext cx="1709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Supplier master &amp; cost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508760"/>
            <a:ext cx="205740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4639" y="1508760"/>
            <a:ext cx="73152" cy="1417320"/>
          </a:xfrm>
          <a:prstGeom prst="rect">
            <a:avLst/>
          </a:prstGeom>
          <a:solidFill>
            <a:srgbClr val="DA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1655063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075688"/>
            <a:ext cx="1709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Product attributes &amp; shelf life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1508760"/>
            <a:ext cx="205740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66359" y="1508760"/>
            <a:ext cx="73152" cy="141732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67527" y="1655063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7" y="2075688"/>
            <a:ext cx="1709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Batch-level manufacturing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508760"/>
            <a:ext cx="205740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9" y="1508760"/>
            <a:ext cx="73152" cy="14173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9248" y="1655063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075688"/>
            <a:ext cx="1709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Stock position &amp; risk fields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508760"/>
            <a:ext cx="205740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29800" y="1508760"/>
            <a:ext cx="73152" cy="141732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30968" y="1655063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8" y="2075688"/>
            <a:ext cx="1709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Order value &amp; customer/order activity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20116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D6C78"/>
                </a:solidFill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0116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D6C78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0116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D6C78"/>
                </a:solidFill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20116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D6C78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703320"/>
            <a:ext cx="493776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3703320"/>
            <a:ext cx="73152" cy="141732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5568" y="3849624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Analytical grain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270248"/>
            <a:ext cx="45902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Batch-level production and inventory records support operational risk analysis; supplier and order records support cost and value review.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703320"/>
            <a:ext cx="493776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3703320"/>
            <a:ext cx="73152" cy="1417320"/>
          </a:xfrm>
          <a:prstGeom prst="rect">
            <a:avLst/>
          </a:prstGeom>
          <a:solidFill>
            <a:srgbClr val="DA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8" y="3849624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Important modeling discipline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4270248"/>
            <a:ext cx="45902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Interpret metrics at the correct grain. Avoid comparing counts or quantities from different tables unless the relationship and business meaning are explicit.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8"/>
                </a:solidFill>
                <a:latin typeface="Aptos"/>
              </a:defRPr>
            </a:pPr>
            <a:r>
              <a:t>Pharma Supply Chain Analytics | SQL Portfolio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C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C2D"/>
                </a:solidFill>
                <a:latin typeface="Aptos Display"/>
              </a:defRPr>
            </a:pPr>
            <a:r>
              <a:t>Data Quality &amp; Analytical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8"/>
                </a:solidFill>
                <a:latin typeface="Aptos"/>
              </a:defRPr>
            </a:pPr>
            <a:r>
              <a:t>Good analyst work states what the data can—and cannot—prove.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QC finding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312724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Some manufacturing-date fields are missing. Therefore, exact age-at-analysis calculations should not be presented as fully observed for every record.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828800"/>
          </a:xfrm>
          <a:prstGeom prst="rect">
            <a:avLst/>
          </a:prstGeom>
          <a:solidFill>
            <a:srgbClr val="DA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7218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QC finding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12724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Shelf-life risk is presented as a screening rule based on available shelf-life / inventory information—not as a confirmed expiry event.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472184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QC finding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92807"/>
            <a:ext cx="312724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Potential dead stock is an analytical candidate list. It requires operational validation before disposal, write-off or commercial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731"/>
                </a:solidFill>
                <a:latin typeface="Aptos"/>
              </a:defRPr>
            </a:pPr>
            <a:r>
              <a:t>• Keep business definitions explicit in SQL comments and README documentation.</a:t>
            </a:r>
          </a:p>
          <a:p>
            <a:pPr>
              <a:spcAft>
                <a:spcPts val="800"/>
              </a:spcAft>
              <a:defRPr sz="1500">
                <a:solidFill>
                  <a:srgbClr val="1C2731"/>
                </a:solidFill>
                <a:latin typeface="Aptos"/>
              </a:defRPr>
            </a:pPr>
            <a:r>
              <a:t>• Validate exceptions with operations before financial decisions.</a:t>
            </a:r>
          </a:p>
          <a:p>
            <a:pPr>
              <a:spcAft>
                <a:spcPts val="800"/>
              </a:spcAft>
              <a:defRPr sz="1500">
                <a:solidFill>
                  <a:srgbClr val="1C2731"/>
                </a:solidFill>
                <a:latin typeface="Aptos"/>
              </a:defRPr>
            </a:pPr>
            <a:r>
              <a:t>• Avoid claiming supplier delivery performance unless delivery-time fields are actually available.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8"/>
                </a:solidFill>
                <a:latin typeface="Aptos"/>
              </a:defRPr>
            </a:pPr>
            <a:r>
              <a:t>Pharma Supply Chain Analytics | SQL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C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C2D"/>
                </a:solidFill>
                <a:latin typeface="Aptos Display"/>
              </a:defRPr>
            </a:pPr>
            <a:r>
              <a:t>SQL Analysis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8"/>
                </a:solidFill>
                <a:latin typeface="Aptos"/>
              </a:defRPr>
            </a:pPr>
            <a:r>
              <a:t>13 practical questions were used to turn the data into business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731"/>
                </a:solidFill>
                <a:latin typeface="Aptos"/>
              </a:defRPr>
            </a:pPr>
            <a:r>
              <a:t>1. How large is the order-value base?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731"/>
                </a:solidFill>
                <a:latin typeface="Aptos"/>
              </a:defRPr>
            </a:pPr>
            <a:r>
              <a:t>2. What is total production output?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96896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731"/>
                </a:solidFill>
                <a:latin typeface="Aptos"/>
              </a:defRPr>
            </a:pPr>
            <a:r>
              <a:t>3. Which products / batches create inventory exposure?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55264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827D"/>
                </a:solidFill>
                <a:latin typeface="Aptos"/>
              </a:defRPr>
            </a:pPr>
            <a:r>
              <a:t>4. Which records fall into the shelf-life risk screen?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13631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827D"/>
                </a:solidFill>
                <a:latin typeface="Aptos"/>
              </a:defRPr>
            </a:pPr>
            <a:r>
              <a:t>5. Which batches look like potential dead stock?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827D"/>
                </a:solidFill>
                <a:latin typeface="Aptos"/>
              </a:defRPr>
            </a:pPr>
            <a:r>
              <a:t>6. Which suppliers exceed the cost-review threshold?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30368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731"/>
                </a:solidFill>
                <a:latin typeface="Aptos"/>
              </a:defRPr>
            </a:pPr>
            <a:r>
              <a:t>7. How does production vary across products / batches?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731"/>
                </a:solidFill>
                <a:latin typeface="Aptos"/>
              </a:defRPr>
            </a:pPr>
            <a:r>
              <a:t>8. Where do inventory and production quantities diverge?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38528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731"/>
                </a:solidFill>
                <a:latin typeface="Aptos"/>
              </a:defRPr>
            </a:pPr>
            <a:r>
              <a:t>9. Which operational records need reconciliation?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96896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731"/>
                </a:solidFill>
                <a:latin typeface="Aptos"/>
              </a:defRPr>
            </a:pPr>
            <a:r>
              <a:t>10. What patterns can be summarized with conditional logic?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55264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731"/>
                </a:solidFill>
                <a:latin typeface="Aptos"/>
              </a:defRPr>
            </a:pPr>
            <a:r>
              <a:t>11. Which records should be prioritized for exception review?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913631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827D"/>
                </a:solidFill>
                <a:latin typeface="Aptos"/>
              </a:defRPr>
            </a:pPr>
            <a:r>
              <a:t>12. What data-quality gaps limit interpretation?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57200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731"/>
                </a:solidFill>
                <a:latin typeface="Aptos"/>
              </a:defRPr>
            </a:pPr>
            <a:r>
              <a:t>13. What actions can improve working capital and operational control?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8"/>
                </a:solidFill>
                <a:latin typeface="Aptos"/>
              </a:defRPr>
            </a:pPr>
            <a:r>
              <a:t>Pharma Supply Chain Analytics | SQL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C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C2D"/>
                </a:solidFill>
                <a:latin typeface="Aptos Display"/>
              </a:defRPr>
            </a:pPr>
            <a:r>
              <a:t>Inventory Risk: Shelf-Life + Dead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8"/>
                </a:solidFill>
                <a:latin typeface="Aptos"/>
              </a:defRPr>
            </a:pPr>
            <a:r>
              <a:t>Risk signals identify where working capital can become trapped.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834640" cy="1234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72184"/>
            <a:ext cx="26151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E4141"/>
                </a:solidFill>
                <a:latin typeface="Aptos Display"/>
              </a:defRPr>
            </a:pPr>
            <a:r>
              <a:t>3.85M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2615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C78"/>
                </a:solidFill>
                <a:latin typeface="Aptos"/>
              </a:defRPr>
            </a:pPr>
            <a:r>
              <a:t>Units under the 70% shelf-life screening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325880"/>
            <a:ext cx="2834640" cy="1234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13048" y="1472184"/>
            <a:ext cx="26151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A7830"/>
                </a:solidFill>
                <a:latin typeface="Aptos Display"/>
              </a:defRPr>
            </a:pPr>
            <a:r>
              <a:t>79.3%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48" y="1984248"/>
            <a:ext cx="2615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C78"/>
                </a:solidFill>
                <a:latin typeface="Aptos"/>
              </a:defRPr>
            </a:pPr>
            <a:r>
              <a:t>Share of screened inventory quantity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325880"/>
            <a:ext cx="2194560" cy="1234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76288" y="1472184"/>
            <a:ext cx="19751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827D"/>
                </a:solidFill>
                <a:latin typeface="Aptos Display"/>
              </a:defRPr>
            </a:pPr>
            <a:r>
              <a:t>118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1984248"/>
            <a:ext cx="197510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C78"/>
                </a:solidFill>
                <a:latin typeface="Aptos"/>
              </a:defRPr>
            </a:pPr>
            <a:r>
              <a:t>Potential dead-stock candidates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325880"/>
            <a:ext cx="233172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89720" y="1325880"/>
            <a:ext cx="73152" cy="123444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0888" y="1472184"/>
            <a:ext cx="2011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1892807"/>
            <a:ext cx="1984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Prioritize exceptions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80360"/>
            <a:ext cx="5257800" cy="214884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880360"/>
            <a:ext cx="73152" cy="214884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026664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447288"/>
            <a:ext cx="49103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Slow-moving or near-expiry inventory can lock up cash, increase carrying cost and create avoidable write-off risk. The SQL output provides a shortlist for operational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880360"/>
            <a:ext cx="5349240" cy="214884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2880360"/>
            <a:ext cx="73152" cy="214884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3026664"/>
            <a:ext cx="5029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Recommended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447288"/>
            <a:ext cx="50017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Create an exception queue by risk level, review high-risk batches weekly, align procurement with demand, and use FEFO-style dispatch where operationally appropriate.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8"/>
                </a:solidFill>
                <a:latin typeface="Aptos"/>
              </a:defRPr>
            </a:pPr>
            <a:r>
              <a:t>Pharma Supply Chain Analytics | SQL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C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C2D"/>
                </a:solidFill>
                <a:latin typeface="Aptos Display"/>
              </a:defRPr>
            </a:pPr>
            <a:r>
              <a:t>Supplier Cost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8"/>
                </a:solidFill>
                <a:latin typeface="Aptos"/>
              </a:defRPr>
            </a:pPr>
            <a:r>
              <a:t>Supplier-level cost screening highlights where procurement attention may have the highest payoff.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743200" cy="1234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72184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A7830"/>
                </a:solidFill>
                <a:latin typeface="Aptos Display"/>
              </a:defRPr>
            </a:pPr>
            <a:r>
              <a:t>34 / 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25237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C78"/>
                </a:solidFill>
                <a:latin typeface="Aptos"/>
              </a:defRPr>
            </a:pPr>
            <a:r>
              <a:t>Suppliers above ₹10,000 review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325880"/>
            <a:ext cx="2743200" cy="1234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1472184"/>
            <a:ext cx="252374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827D"/>
                </a:solidFill>
                <a:latin typeface="Aptos Display"/>
              </a:defRPr>
            </a:pPr>
            <a:r>
              <a:t>73.9%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1984248"/>
            <a:ext cx="25237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C78"/>
                </a:solidFill>
                <a:latin typeface="Aptos"/>
              </a:defRPr>
            </a:pPr>
            <a:r>
              <a:t>Share of suppliers crossing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325880"/>
            <a:ext cx="480060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0" y="1325880"/>
            <a:ext cx="73152" cy="123444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76288" y="1472184"/>
            <a:ext cx="4480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892807"/>
            <a:ext cx="4453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Threshold crossing is a prioritization signal—not proof that a supplier is overpriced.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5212080" cy="214884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2148840"/>
          </a:xfrm>
          <a:prstGeom prst="rect">
            <a:avLst/>
          </a:prstGeom>
          <a:solidFill>
            <a:srgbClr val="DA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3026664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447288"/>
            <a:ext cx="4864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A broad high-cost supplier set can increase procurement pressure and reduce visibility into unit-cost drivers.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80360"/>
            <a:ext cx="5303520" cy="214884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880360"/>
            <a:ext cx="73152" cy="214884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026664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Growth / savings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447288"/>
            <a:ext cx="495604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Segment suppliers by cost, volume and strategic importance; negotiate where alternatives exist; standardize cost review; and monitor price movement over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8"/>
                </a:solidFill>
                <a:latin typeface="Aptos"/>
              </a:defRPr>
            </a:pPr>
            <a:r>
              <a:t>Pharma Supply Chain Analytics | SQL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C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C2D"/>
                </a:solidFill>
                <a:latin typeface="Aptos Display"/>
              </a:defRPr>
            </a:pPr>
            <a:r>
              <a:t>Order &amp; Production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8"/>
                </a:solidFill>
                <a:latin typeface="Aptos"/>
              </a:defRPr>
            </a:pPr>
            <a:r>
              <a:t>Cross-table checks are used to identify records that deserve investigation.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834640" cy="1234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72184"/>
            <a:ext cx="26151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827D"/>
                </a:solidFill>
                <a:latin typeface="Aptos Display"/>
              </a:defRPr>
            </a:pPr>
            <a:r>
              <a:t>₹217.39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2615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C78"/>
                </a:solidFill>
                <a:latin typeface="Aptos"/>
              </a:defRPr>
            </a:pPr>
            <a:r>
              <a:t>Order value reviewed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325880"/>
            <a:ext cx="2834640" cy="1234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58768" y="1472184"/>
            <a:ext cx="261518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A7830"/>
                </a:solidFill>
                <a:latin typeface="Aptos Display"/>
              </a:defRPr>
            </a:pPr>
            <a:r>
              <a:t>54.31M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1984248"/>
            <a:ext cx="261518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D6C78"/>
                </a:solidFill>
                <a:latin typeface="Aptos"/>
              </a:defRPr>
            </a:pPr>
            <a:r>
              <a:t>Production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325880"/>
            <a:ext cx="461772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0" y="1325880"/>
            <a:ext cx="73152" cy="123444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59168" y="1472184"/>
            <a:ext cx="4297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Why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892807"/>
            <a:ext cx="4270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Differences between operational tables can reveal timing, master-data, fulfillment or recording 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718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731"/>
                </a:solidFill>
                <a:latin typeface="Aptos"/>
              </a:defRPr>
            </a:pPr>
            <a:r>
              <a:t>• Compare production output with inventory movement where a valid relationship exists.</a:t>
            </a:r>
          </a:p>
          <a:p>
            <a:pPr>
              <a:spcAft>
                <a:spcPts val="800"/>
              </a:spcAft>
              <a:defRPr sz="1500">
                <a:solidFill>
                  <a:srgbClr val="1C2731"/>
                </a:solidFill>
                <a:latin typeface="Aptos"/>
              </a:defRPr>
            </a:pPr>
            <a:r>
              <a:t>• Review order-value totals against the relevant order-level grain.</a:t>
            </a:r>
          </a:p>
          <a:p>
            <a:pPr>
              <a:spcAft>
                <a:spcPts val="800"/>
              </a:spcAft>
              <a:defRPr sz="1500">
                <a:solidFill>
                  <a:srgbClr val="1C2731"/>
                </a:solidFill>
                <a:latin typeface="Aptos"/>
              </a:defRPr>
            </a:pPr>
            <a:r>
              <a:t>• Investigate unmatched or unexpected records before using them for KPI reporting.</a:t>
            </a:r>
          </a:p>
          <a:p>
            <a:pPr>
              <a:spcAft>
                <a:spcPts val="800"/>
              </a:spcAft>
              <a:defRPr sz="1500">
                <a:solidFill>
                  <a:srgbClr val="1C2731"/>
                </a:solidFill>
                <a:latin typeface="Aptos"/>
              </a:defRPr>
            </a:pPr>
            <a:r>
              <a:t>• Treat reconciliation findings as investigation leads, not automatic errors.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8"/>
                </a:solidFill>
                <a:latin typeface="Aptos"/>
              </a:defRPr>
            </a:pPr>
            <a:r>
              <a:t>Pharma Supply Chain Analytics | SQL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C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C2D"/>
                </a:solidFill>
                <a:latin typeface="Aptos Display"/>
              </a:defRPr>
            </a:pPr>
            <a:r>
              <a:t>SQL Techniques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8"/>
                </a:solidFill>
                <a:latin typeface="Aptos"/>
              </a:defRPr>
            </a:pPr>
            <a:r>
              <a:t>The portfolio emphasizes practical analyst skills rather than SQL syntax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6459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64592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Aggregation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30815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SUM, COUNT, AVG and GROUP BY for operational KPIs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429000" cy="16459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645920"/>
          </a:xfrm>
          <a:prstGeom prst="rect">
            <a:avLst/>
          </a:prstGeom>
          <a:solidFill>
            <a:srgbClr val="DA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8" y="14721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1892807"/>
            <a:ext cx="30815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WHERE / HAVING to isolate risk and cost-review populations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25880"/>
            <a:ext cx="3429000" cy="16459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73152" cy="164592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14721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Joins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1892807"/>
            <a:ext cx="30815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Relational joins where shared keys support cross-table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80"/>
            <a:ext cx="3429000" cy="16459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383280"/>
            <a:ext cx="73152" cy="164592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5295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CASE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950208"/>
            <a:ext cx="30815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Business classification and exception flags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383280"/>
            <a:ext cx="3429000" cy="16459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383280"/>
            <a:ext cx="73152" cy="1645920"/>
          </a:xfrm>
          <a:prstGeom prst="rect">
            <a:avLst/>
          </a:prstGeom>
          <a:solidFill>
            <a:srgbClr val="DA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8" y="35295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Subqueries / nested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3950208"/>
            <a:ext cx="30815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Used where required to compare or derive analytical populations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383280"/>
            <a:ext cx="3429000" cy="16459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383280"/>
            <a:ext cx="73152" cy="16459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0768" y="35295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Data-quality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3950208"/>
            <a:ext cx="30815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NULL checks, duplicate/consistency review and reconciliation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8"/>
                </a:solidFill>
                <a:latin typeface="Aptos"/>
              </a:defRPr>
            </a:pPr>
            <a:r>
              <a:t>Pharma Supply Chain Analytics | SQL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C7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04732B-2EA8-4266-22BC-3C91DC70225D}"/>
              </a:ext>
            </a:extLst>
          </p:cNvPr>
          <p:cNvSpPr txBox="1"/>
          <p:nvPr/>
        </p:nvSpPr>
        <p:spPr>
          <a:xfrm>
            <a:off x="530352" y="5231255"/>
            <a:ext cx="1097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Narrow" panose="020B0606020202030204" pitchFamily="34" charset="0"/>
              </a:rPr>
              <a:t>&amp; Windows Function : </a:t>
            </a:r>
            <a:r>
              <a:rPr lang="en-US" sz="1400" dirty="0">
                <a:latin typeface="+mj-lt"/>
              </a:rPr>
              <a:t>Rank partition by , Runnig total</a:t>
            </a:r>
            <a:r>
              <a:rPr lang="en-US" sz="1200" dirty="0">
                <a:latin typeface="+mj-lt"/>
              </a:rPr>
              <a:t> </a:t>
            </a:r>
            <a:endParaRPr lang="en-US" sz="1200" b="1" dirty="0">
              <a:latin typeface="+mj-lt"/>
            </a:endParaRPr>
          </a:p>
          <a:p>
            <a:r>
              <a:rPr lang="en-US" sz="1600" b="1" dirty="0">
                <a:latin typeface="Arial Narrow" panose="020B0606020202030204" pitchFamily="34" charset="0"/>
              </a:rPr>
              <a:t>    Date function,</a:t>
            </a:r>
          </a:p>
          <a:p>
            <a:r>
              <a:rPr lang="en-US" sz="1600" b="1" dirty="0">
                <a:latin typeface="Arial Narrow" panose="020B0606020202030204" pitchFamily="34" charset="0"/>
              </a:rPr>
              <a:t>   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C2D"/>
                </a:solidFill>
                <a:latin typeface="Aptos Display"/>
              </a:defRPr>
            </a:pPr>
            <a:r>
              <a:t>Business Problems &amp; Root-Cause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8"/>
                </a:solidFill>
                <a:latin typeface="Aptos"/>
              </a:defRPr>
            </a:pPr>
            <a:r>
              <a:t>The analysis translates metrics into questions a supply-chain team can act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743200" cy="9601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9601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2423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Working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01368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Why is so much inventory exposed to shelf-life risk?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863840" cy="9601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11880" y="1234440"/>
            <a:ext cx="73152" cy="9601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3048" y="1380744"/>
            <a:ext cx="7543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Root-cause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1801368"/>
            <a:ext cx="75163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Demand planning, purchasing cadence, slow movement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68880"/>
            <a:ext cx="2743200" cy="9601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468880"/>
            <a:ext cx="73152" cy="960120"/>
          </a:xfrm>
          <a:prstGeom prst="rect">
            <a:avLst/>
          </a:prstGeom>
          <a:solidFill>
            <a:srgbClr val="DA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2615184"/>
            <a:ext cx="2423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Dead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035808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Which batches have low commercial utility?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2468880"/>
            <a:ext cx="7863840" cy="9601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11880" y="2468880"/>
            <a:ext cx="73152" cy="960120"/>
          </a:xfrm>
          <a:prstGeom prst="rect">
            <a:avLst/>
          </a:prstGeom>
          <a:solidFill>
            <a:srgbClr val="DA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13048" y="2615184"/>
            <a:ext cx="7543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Root-cause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48" y="3035808"/>
            <a:ext cx="75163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Low demand, excess production, portfolio changes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03320"/>
            <a:ext cx="2743200" cy="9601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703320"/>
            <a:ext cx="73152" cy="96012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849624"/>
            <a:ext cx="2423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Procurement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270248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Why do 34 suppliers cross the review threshold?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3703320"/>
            <a:ext cx="7863840" cy="9601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11880" y="3703320"/>
            <a:ext cx="73152" cy="96012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3048" y="3849624"/>
            <a:ext cx="7543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Root-cause direction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3048" y="4270248"/>
            <a:ext cx="75163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Price structure, volumes, sourcing strategy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37760"/>
            <a:ext cx="2743200" cy="9601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937760"/>
            <a:ext cx="73152" cy="96012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7" y="5084064"/>
            <a:ext cx="2423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Operational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5504688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Where do records require reconciliation?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4937760"/>
            <a:ext cx="7863840" cy="96012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11880" y="4937760"/>
            <a:ext cx="73152" cy="96012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13048" y="5084064"/>
            <a:ext cx="7543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Root-cause direction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3048" y="5504688"/>
            <a:ext cx="75163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Timing, keys, master-data quality, process gaps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8"/>
                </a:solidFill>
                <a:latin typeface="Aptos"/>
              </a:defRPr>
            </a:pPr>
            <a:r>
              <a:t>Pharma Supply Chain Analytics | SQL Portfolio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C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Business Growth &amp; Improvement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Aptos"/>
              </a:defRPr>
            </a:pPr>
            <a:r>
              <a:t>A practical path from analysis to recurring operational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965960" cy="960120"/>
          </a:xfrm>
          <a:prstGeom prst="roundRect">
            <a:avLst/>
          </a:prstGeom>
          <a:solidFill>
            <a:srgbClr val="1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563624"/>
            <a:ext cx="17465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827D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75688"/>
            <a:ext cx="17465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ptos"/>
              </a:defRPr>
            </a:pPr>
            <a:r>
              <a:t>Protect 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78608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1EAF0"/>
                </a:solidFill>
                <a:latin typeface="Aptos"/>
              </a:defRPr>
            </a:pPr>
            <a:r>
              <a:t>Reduce near-expiry exposure and prioritize high-risk inventory.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17320"/>
            <a:ext cx="1965960" cy="960120"/>
          </a:xfrm>
          <a:prstGeom prst="roundRect">
            <a:avLst/>
          </a:prstGeom>
          <a:solidFill>
            <a:srgbClr val="1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0088" y="1563624"/>
            <a:ext cx="17465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A783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075688"/>
            <a:ext cx="17465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ptos"/>
              </a:defRPr>
            </a:pPr>
            <a:r>
              <a:t>Improve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578608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1EAF0"/>
                </a:solidFill>
                <a:latin typeface="Aptos"/>
              </a:defRPr>
            </a:pPr>
            <a:r>
              <a:t>Use production + inventory signals to better align output with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417320"/>
            <a:ext cx="1965960" cy="960120"/>
          </a:xfrm>
          <a:prstGeom prst="roundRect">
            <a:avLst/>
          </a:prstGeom>
          <a:solidFill>
            <a:srgbClr val="1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76088" y="1563624"/>
            <a:ext cx="17465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827D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075688"/>
            <a:ext cx="17465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ptos"/>
              </a:defRPr>
            </a:pPr>
            <a:r>
              <a:t>Optimize sourcing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578608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1EAF0"/>
                </a:solidFill>
                <a:latin typeface="Aptos"/>
              </a:defRPr>
            </a:pPr>
            <a:r>
              <a:t>Review high-cost suppliers and build evidence for negotiation / alternatives.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417320"/>
            <a:ext cx="1965960" cy="960120"/>
          </a:xfrm>
          <a:prstGeom prst="roundRect">
            <a:avLst/>
          </a:prstGeom>
          <a:solidFill>
            <a:srgbClr val="1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62088" y="1563624"/>
            <a:ext cx="17465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A7830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2075688"/>
            <a:ext cx="17465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ptos"/>
              </a:defRPr>
            </a:pPr>
            <a:r>
              <a:t>Strengthen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578608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1EAF0"/>
                </a:solidFill>
                <a:latin typeface="Aptos"/>
              </a:defRPr>
            </a:pPr>
            <a:r>
              <a:t>Automate reconciliation and exception reporting.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417320"/>
            <a:ext cx="1965960" cy="960120"/>
          </a:xfrm>
          <a:prstGeom prst="roundRect">
            <a:avLst/>
          </a:prstGeom>
          <a:solidFill>
            <a:srgbClr val="1B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48088" y="1563624"/>
            <a:ext cx="174650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827D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2075688"/>
            <a:ext cx="17465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ptos"/>
              </a:defRPr>
            </a:pPr>
            <a:r>
              <a:t>Scale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578608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1EAF0"/>
                </a:solidFill>
                <a:latin typeface="Aptos"/>
              </a:defRPr>
            </a:pPr>
            <a:r>
              <a:t>Move from one-time SQL analysis to Power BI KPI monitoring and scheduled refresh.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83480"/>
            <a:ext cx="10698480" cy="822960"/>
          </a:xfrm>
          <a:prstGeom prst="roundRect">
            <a:avLst/>
          </a:prstGeom>
          <a:solidFill>
            <a:srgbClr val="1B2B3C"/>
          </a:solidFill>
          <a:ln>
            <a:solidFill>
              <a:srgbClr val="1B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983480"/>
            <a:ext cx="73152" cy="82296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5129784"/>
            <a:ext cx="10378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Target 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550408"/>
            <a:ext cx="10351007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AEF"/>
                </a:solidFill>
                <a:latin typeface="Aptos"/>
              </a:defRPr>
            </a:pPr>
            <a:r>
              <a:t>Lower avoidable inventory risk + better procurement visibility + stronger data controls + faster management decisions.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Pharma Supply Chain Analytics | SQL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C2D"/>
                </a:solidFill>
                <a:latin typeface="Aptos Display"/>
              </a:defRPr>
            </a:pPr>
            <a:r>
              <a:t>Project Outcome | Recruiter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C78"/>
                </a:solidFill>
                <a:latin typeface="Aptos"/>
              </a:defRPr>
            </a:pPr>
            <a:r>
              <a:t>What this project demonstrates as a fresher data / business analyst.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2900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182880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26463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Business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47088"/>
            <a:ext cx="308152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Understands how sourcing, manufacturing, inventory and orders connect to working capital, cost and operational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42900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73152" cy="1828800"/>
          </a:xfrm>
          <a:prstGeom prst="rect">
            <a:avLst/>
          </a:prstGeom>
          <a:solidFill>
            <a:srgbClr val="DA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426463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Technical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47088"/>
            <a:ext cx="3081528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rPr dirty="0"/>
              <a:t>SQL-based aggregation, filtering, joins, </a:t>
            </a:r>
            <a:br>
              <a:rPr lang="en-US" dirty="0"/>
            </a:br>
            <a:r>
              <a:rPr lang="en-US" dirty="0"/>
              <a:t>group by / having , cte + case when  , Date functions ,  rank partition by , Running-total window functions , </a:t>
            </a:r>
            <a:r>
              <a:rPr dirty="0"/>
              <a:t>conditional logic, exception identification and data-quality validation</a:t>
            </a:r>
            <a:r>
              <a:rPr lang="en-US" dirty="0"/>
              <a:t>,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42900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73152" cy="182880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426463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847088"/>
            <a:ext cx="308152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Converts analytical findings into prioritized business actions rather than reporting numbers 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5257800" cy="155448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520440"/>
            <a:ext cx="73152" cy="1554480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666744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t>Portfolio deliverables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087368"/>
            <a:ext cx="49103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t>SQL analysis • README documentation • professional presentation • future-ready Power BI 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520440"/>
            <a:ext cx="5394960" cy="1554480"/>
          </a:xfrm>
          <a:prstGeom prst="roundRect">
            <a:avLst/>
          </a:prstGeom>
          <a:solidFill>
            <a:srgbClr val="F2F6F8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520440"/>
            <a:ext cx="73152" cy="1554480"/>
          </a:xfrm>
          <a:prstGeom prst="rect">
            <a:avLst/>
          </a:prstGeom>
          <a:solidFill>
            <a:srgbClr val="DA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666744"/>
            <a:ext cx="109036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r>
              <a:rPr lang="en-IN" dirty="0"/>
              <a:t>BUSINESS</a:t>
            </a:r>
          </a:p>
          <a:p>
            <a:pPr>
              <a:defRPr sz="1500" b="1">
                <a:solidFill>
                  <a:srgbClr val="0F1C2D"/>
                </a:solidFill>
                <a:latin typeface="Aptos"/>
              </a:defRPr>
            </a:pP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382512" y="3924660"/>
            <a:ext cx="5047488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r>
              <a:rPr lang="en-US" dirty="0"/>
              <a:t>Inventory risk</a:t>
            </a:r>
            <a:br>
              <a:rPr lang="en-US" dirty="0"/>
            </a:br>
            <a:r>
              <a:rPr lang="en-US" dirty="0"/>
              <a:t>Dead stock</a:t>
            </a:r>
            <a:br>
              <a:rPr lang="en-US" dirty="0"/>
            </a:br>
            <a:r>
              <a:rPr lang="en-US" dirty="0"/>
              <a:t>Supplier cost</a:t>
            </a:r>
            <a:br>
              <a:rPr lang="en-US" dirty="0"/>
            </a:br>
            <a:r>
              <a:rPr lang="en-US" dirty="0"/>
              <a:t>QC monitoring</a:t>
            </a:r>
            <a:br>
              <a:rPr lang="en-US" dirty="0"/>
            </a:br>
            <a:r>
              <a:rPr lang="en-US" dirty="0"/>
              <a:t>Revenue drivers</a:t>
            </a:r>
            <a:br>
              <a:rPr lang="en-US" dirty="0"/>
            </a:br>
            <a:r>
              <a:rPr lang="en-US" dirty="0"/>
              <a:t>Operational reconciliation</a:t>
            </a:r>
          </a:p>
          <a:p>
            <a:pPr>
              <a:defRPr sz="1050">
                <a:solidFill>
                  <a:srgbClr val="1C2731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58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C78"/>
                </a:solidFill>
                <a:latin typeface="Aptos"/>
              </a:defRPr>
            </a:pPr>
            <a:r>
              <a:t>Pharma Supply Chain Analytics | SQL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C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23258" y="-1143000"/>
            <a:ext cx="4572000" cy="45720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Demonstrated, End to End</a:t>
            </a:r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48132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Cleaning: 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481328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Power Query / M — trim, type conversion, conditional &amp; custom columns, deduplication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305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10312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Modeling: 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103120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11-table schema with correctly scoped PK/FK relationships and documented simplifications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75234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52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724912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Joins (Inner/Left/Full Outer), CTEs, CASE, window functions, subqueries, HAVING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37413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74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34670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 </a:t>
            </a:r>
            <a:endParaRPr lang="en-US" sz="13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29000" y="3346704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Star schema, dual date tables, DAX measures,  dashboard with KPI-driven insights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39959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96849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Application:  </a:t>
            </a:r>
            <a:endParaRPr lang="en-US" sz="13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29000" y="3968496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 Rounded MT Bold" panose="020F0704030504030204" pitchFamily="34" charset="0"/>
                <a:ea typeface="Calibri" pitchFamily="34" charset="-122"/>
                <a:cs typeface="Calibri" pitchFamily="34" charset="-120"/>
              </a:rPr>
              <a:t>Chemistry background applied to QC interpretation — assay purity, dissolution, microbial testing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12700">
            <a:solidFill>
              <a:srgbClr val="2A6E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486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Krish Gurjar  |  Data Analytics Portfolio 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1458</Words>
  <Application>Microsoft Office PowerPoint</Application>
  <PresentationFormat>Widescreen</PresentationFormat>
  <Paragraphs>219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Narrow</vt:lpstr>
      <vt:lpstr>Arial Rounded MT Bold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 GURJER</cp:lastModifiedBy>
  <cp:revision>12</cp:revision>
  <dcterms:created xsi:type="dcterms:W3CDTF">2013-01-27T09:14:16Z</dcterms:created>
  <dcterms:modified xsi:type="dcterms:W3CDTF">2026-08-30T10:23:50Z</dcterms:modified>
  <cp:category/>
</cp:coreProperties>
</file>