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GURJER" userId="0e6e00be27d90f99" providerId="LiveId" clId="{484E2FFA-7F7C-4736-A3C2-E16438C10B3D}"/>
    <pc:docChg chg="delSld modSld">
      <pc:chgData name="KRISH GURJER" userId="0e6e00be27d90f99" providerId="LiveId" clId="{484E2FFA-7F7C-4736-A3C2-E16438C10B3D}" dt="2026-08-27T11:45:03.717" v="30" actId="20577"/>
      <pc:docMkLst>
        <pc:docMk/>
      </pc:docMkLst>
      <pc:sldChg chg="modSp mod">
        <pc:chgData name="KRISH GURJER" userId="0e6e00be27d90f99" providerId="LiveId" clId="{484E2FFA-7F7C-4736-A3C2-E16438C10B3D}" dt="2026-08-27T11:45:03.717" v="30" actId="20577"/>
        <pc:sldMkLst>
          <pc:docMk/>
          <pc:sldMk cId="0" sldId="256"/>
        </pc:sldMkLst>
        <pc:spChg chg="mod">
          <ac:chgData name="KRISH GURJER" userId="0e6e00be27d90f99" providerId="LiveId" clId="{484E2FFA-7F7C-4736-A3C2-E16438C10B3D}" dt="2026-08-27T11:45:03.717" v="30" actId="20577"/>
          <ac:spMkLst>
            <pc:docMk/>
            <pc:sldMk cId="0" sldId="256"/>
            <ac:spMk id="10" creationId="{00000000-0000-0000-0000-000000000000}"/>
          </ac:spMkLst>
        </pc:spChg>
      </pc:sldChg>
      <pc:sldChg chg="modSp mod">
        <pc:chgData name="KRISH GURJER" userId="0e6e00be27d90f99" providerId="LiveId" clId="{484E2FFA-7F7C-4736-A3C2-E16438C10B3D}" dt="2026-08-22T16:59:59.780" v="20" actId="27107"/>
        <pc:sldMkLst>
          <pc:docMk/>
          <pc:sldMk cId="0" sldId="261"/>
        </pc:sldMkLst>
        <pc:graphicFrameChg chg="modGraphic">
          <ac:chgData name="KRISH GURJER" userId="0e6e00be27d90f99" providerId="LiveId" clId="{484E2FFA-7F7C-4736-A3C2-E16438C10B3D}" dt="2026-08-22T16:59:59.780" v="20" actId="27107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del">
        <pc:chgData name="KRISH GURJER" userId="0e6e00be27d90f99" providerId="LiveId" clId="{484E2FFA-7F7C-4736-A3C2-E16438C10B3D}" dt="2026-08-27T11:44:29.635" v="21" actId="47"/>
        <pc:sldMkLst>
          <pc:docMk/>
          <pc:sldMk cId="0" sldId="267"/>
        </pc:sldMkLst>
      </pc:sldChg>
      <pc:sldChg chg="del">
        <pc:chgData name="KRISH GURJER" userId="0e6e00be27d90f99" providerId="LiveId" clId="{484E2FFA-7F7C-4736-A3C2-E16438C10B3D}" dt="2026-08-27T11:44:29.635" v="21" actId="47"/>
        <pc:sldMkLst>
          <pc:docMk/>
          <pc:sldMk cId="0" sldId="268"/>
        </pc:sldMkLst>
      </pc:sldChg>
      <pc:sldChg chg="del">
        <pc:chgData name="KRISH GURJER" userId="0e6e00be27d90f99" providerId="LiveId" clId="{484E2FFA-7F7C-4736-A3C2-E16438C10B3D}" dt="2026-08-27T11:44:29.635" v="21" actId="47"/>
        <pc:sldMkLst>
          <pc:docMk/>
          <pc:sldMk cId="0" sldId="269"/>
        </pc:sldMkLst>
      </pc:sldChg>
      <pc:sldChg chg="del">
        <pc:chgData name="KRISH GURJER" userId="0e6e00be27d90f99" providerId="LiveId" clId="{484E2FFA-7F7C-4736-A3C2-E16438C10B3D}" dt="2026-08-27T11:44:29.635" v="21" actId="47"/>
        <pc:sldMkLst>
          <pc:docMk/>
          <pc:sldMk cId="0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023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2F2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Supply Chain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Quality Analytics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 •  Manufacturing  •  Quality Control  •  Inventory  •  Sales  •  Logistics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(Power Query / M)   →   SQL Server   →   Power BI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Krish  |  Data Analytics Portfolio Project  |  Ahmedabad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6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6916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45920" y="20756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and what the project solves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6F5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7335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16916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207568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raw tables, primary/foreign keys, relationships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906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3108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 Transformations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49300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raw data was cleaned (M language)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92608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09067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406640" y="3108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349300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queries — joins, CTEs, window functions, subqueries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6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079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45920" y="491032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tabs, 16 KPIs, DAX measures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343400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2F6F5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507992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E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406640" y="452628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491032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reveals, end to end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Business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pharmaceutical distribution company needs visibility across its entire supply chain — from where raw materials are sourced, through manufacturing and quality control, to where finished stock sits in warehouses, and finally how it reaches customers and gets delivered.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that visibility from raw, uncleaned data to a working analytics dashboard — covering the complete analytics workflow a Data Analyst / MIS Executive role requires.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694176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 sold unit back to its manufacturing batch, expiry date, and QC result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3159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4261104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near-expiry and dead stock before it becomes a loss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882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4828032"/>
            <a:ext cx="6080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supplier cost, delivery performance, and revenue drivers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141732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0B4F4A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783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44000" y="19659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Tables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80960" y="28346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4000" y="30175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KPIs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38862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144000" y="4069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49377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144000" y="51206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6035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background applied to Quality Control interpretation — assay purity, dissolution, microbial test results.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Tables — Primary &amp; Foreign Key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6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suppliers clean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13232" y="26700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Raw Material Clean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14173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6F5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1417320"/>
            <a:ext cx="2697480" cy="50292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Quality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21031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Products Clean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26700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Batch Clean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3236976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Control Clean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45936" y="14173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5936" y="1417320"/>
            <a:ext cx="2697480" cy="502920"/>
          </a:xfrm>
          <a:prstGeom prst="rect">
            <a:avLst/>
          </a:prstGeom>
          <a:solidFill>
            <a:srgbClr val="C1440E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21031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Warehouse Clean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0528" y="26700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Inventory Clean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44584" y="1417320"/>
            <a:ext cx="2697480" cy="3246120"/>
          </a:xfrm>
          <a:prstGeom prst="roundRect">
            <a:avLst>
              <a:gd name="adj" fmla="val 2712"/>
            </a:avLst>
          </a:prstGeom>
          <a:solidFill>
            <a:srgbClr val="F2F6F5"/>
          </a:solidFill>
          <a:ln/>
        </p:spPr>
      </p:sp>
      <p:sp>
        <p:nvSpPr>
          <p:cNvPr id="21" name="Shape 19"/>
          <p:cNvSpPr/>
          <p:nvPr/>
        </p:nvSpPr>
        <p:spPr>
          <a:xfrm>
            <a:off x="9244584" y="1417320"/>
            <a:ext cx="2697480" cy="5029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244584" y="14173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Logistics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09176" y="21031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Clean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409176" y="2670048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Order Clean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09176" y="3236976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Clean (line items)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09176" y="3803904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Shipment Clean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292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relationship:  </a:t>
            </a:r>
            <a:r>
              <a:rPr lang="en-US" sz="1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Batch Clean (batch_id)  →  orders Clean (line items)  →  Sales Order Clean  →  Customers Clean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link is what lets every sold unit be traced back to its manufacturing date, expiry date, and QC result — the traceability backbone the whole project is built around.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POWER QUERY (M LANGUAGE)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 → Clean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arrived deliberately messy — mixed date formats, inconsistent casing, duplicate rows, inconsistent units. Each was cleaned in Power Query before loading to SQL.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Type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88720" y="24688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types on dates, numbers, and text columns per table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212848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212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1031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Trim &amp; Clean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49440" y="246888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leading/trailing whitespace from name and text fields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Column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8720" y="37947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derived fields (e.g., shelf-life flags) from existing columns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538728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429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Column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49440" y="379476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Yes/No/Y/N/1/0 flags into one consistent format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864608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754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Values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8720" y="51206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inconsistent unit-of-measure spellings (KG / kg / Kg)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4864608"/>
            <a:ext cx="457200" cy="4572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4754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49440" y="51206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planted duplicate rows from suppliers and production batches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Queries — Basic to Advanced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873375"/>
              </p:ext>
            </p:extLst>
          </p:nvPr>
        </p:nvGraphicFramePr>
        <p:xfrm>
          <a:off x="548640" y="1417320"/>
          <a:ext cx="11064240" cy="484632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/ BETWEEN / ORDER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window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batches expiring in the next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/ SUM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output totals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quantity produced per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customer + order + line item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stock, missing QC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batches with no sale / no QC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OUTER JOIN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vs shipments audit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orders with no shipment (or vice versa)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cost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suppliers whose avg material cost is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 +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pass-rate bucketing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 products as Excellent / Acceptable / Needs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Function — RANK()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ranking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customers by revenue within their 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 Function — Running 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output trend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monthly output per plant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3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DEEP DIVE — QUERY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Batches Expiring in the Next 90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2286000"/>
          </a:xfrm>
          <a:prstGeom prst="roundRect">
            <a:avLst>
              <a:gd name="adj" fmla="val 2400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27048"/>
            <a:ext cx="6071616" cy="206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batch_number, product_id, Expiry_date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dbo.productionbatch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Expiry_date BETWEEN CAST(GETDATE() AS DATE)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DATEADD(DAY, 90, CAST(GETDATE() AS DATE))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Expiry_date;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78040" y="1417320"/>
            <a:ext cx="4434840" cy="2286000"/>
          </a:xfrm>
          <a:prstGeom prst="roundRect">
            <a:avLst>
              <a:gd name="adj" fmla="val 3200"/>
            </a:avLst>
          </a:prstGeom>
          <a:solidFill>
            <a:srgbClr val="F2F6F5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554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1874520"/>
            <a:ext cx="4023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every batch approaching expiry before it becomes unsellable stock — the single most operationally important query in pharma distribution. CAST(GETDATE() AS DATE) strips the time component so the date comparison is exact, not affected by the current time of 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64240" cy="0"/>
          </a:xfrm>
          <a:prstGeom prst="line">
            <a:avLst/>
          </a:prstGeom>
          <a:noFill/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DEEP DIVE — QUERY 06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 Stock Candidates — Batches Never Sold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6400800" cy="1737360"/>
          </a:xfrm>
          <a:prstGeom prst="roundRect">
            <a:avLst>
              <a:gd name="adj" fmla="val 3158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727448"/>
            <a:ext cx="6071616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batch_number, pb.product_id, product_name,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quantity_produced, expiry_date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Productionbatch pb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 pb.batch_id = o.batch_id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Products p ON p.product_id = pb.product_id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o.order_id IS NULL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Expiry_date;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4617720"/>
            <a:ext cx="4434840" cy="1737360"/>
          </a:xfrm>
          <a:prstGeom prst="roundRect">
            <a:avLst>
              <a:gd name="adj" fmla="val 4211"/>
            </a:avLst>
          </a:prstGeom>
          <a:solidFill>
            <a:srgbClr val="F2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4773168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LEFT JOIN keeps every batch, even ones with zero matching orders. Filtering WHERE order_id IS NULL isolates exactly those — batches that were manufactured but never sold. Combined with the expiry query above, this quantifies capital at risk.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DEEP DIVE — QUERY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QC Pass-Rate Classification (CTE + CASE)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00800" cy="4023360"/>
          </a:xfrm>
          <a:prstGeom prst="roundRect">
            <a:avLst>
              <a:gd name="adj" fmla="val 1364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27048"/>
            <a:ext cx="6071616" cy="3803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QCSummary AS (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product_id,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COUNT(*) AS Totalbatch,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SUM(CASE WHEN final_result='Pass'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THEN 1 ELSE 0 END) AS Passed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Productionbatch pb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INNER JOIN Qc ON pb.batch_id = QC.batch_id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product_id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product_id, Totalbatch, Passed,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ROUND(100*Passed/Totalbatch,1) AS Pass_Rate_pct,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100*Passed/Totalbatch &gt;= 95 THEN 'Excellent'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100*Passed/Totalbatch &gt;= 85 THEN 'Acceptable'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'Need Review'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Quality_flag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QCSummary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Pass_Rate_pct DESC;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78040" y="1417320"/>
            <a:ext cx="4434840" cy="4023360"/>
          </a:xfrm>
          <a:prstGeom prst="roundRect">
            <a:avLst>
              <a:gd name="adj" fmla="val 1818"/>
            </a:avLst>
          </a:prstGeom>
          <a:solidFill>
            <a:srgbClr val="F2F6F5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0" y="15727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Query Matters Most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192024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CTE first aggregates batch-level QC results up to the product level — total batches tested vs. passed. The outer query then applies business logic (CASE) to turn a raw percentage into a decision-ready label.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a chemistry background adds real value: reading assay purity, dissolution, and microbial results isn't just a SQL exercise — it's interpreting actual pharmaceutical quality data.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any product below 85% pass rate is instantly flagged ‘Need Review’ for the quality team, without manual checking.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DEEP DIVE — QUERIES 11 &amp; 12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 — Ranking &amp; Running Totals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11 — RANK() customers by revenue within their state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847088"/>
            <a:ext cx="10735056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C.customer_id, customer_name, state,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SUM(quantity_ordered * unit_price_inr) AS Revenue,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RANK() OVER (PARTITION BY C.State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ORDER BY SUM(quantity_ordered*unit_price_inr) DESC) AS State_rank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Salesorder so ON C.customer_id = so.customer_id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Orders O ON O.order_id = so.order_id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customer_name, C.customer_id, state;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resets the ranking for each state independently — so the #1 customer in Gujarat and the #1 customer in Maharashtra are both ranked 1, not competing against a single national list.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12 — Running total of batch output per plant per month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52628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636008"/>
            <a:ext cx="10735056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plant_id, FORMAT(Manufacturing_date,'yyyy-MM') AS Month,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SUM(quantity_produced) AS Monthly_output,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SUM(SUM(quantity_produced)) OVER (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PARTITION BY plant_id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ORDER BY FORMAT(Manufacturing_date,'yyyy-MM')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) AS RunningTotal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Productionbatch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plant_id, FORMAT(Manufacturing_date,'yyyy-MM');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DEEP DIVE — QUERIES 07, 08 &amp; 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Audits &amp; Supplier Cost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07 — Missing QC Records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029968"/>
            <a:ext cx="3282696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pb.batch_id, batch_number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Productionbatch pb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Qc ON pb.batch_id=Qc.batch_id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qc_id IS NULL;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check — no pharma batch should ever reach sale without a logged QC result.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5112" y="14173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08 — Orders vs Shipments Audit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2029968"/>
            <a:ext cx="3282696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so.order_id, shipment_id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Salesorder so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OUTER JOIN Shipment 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so.order_id = s.order_id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so.order_id IS NULL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S.shipment_id IS NULL;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25112" y="416052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catches mismatches on either side — orders never shipped, or shipment records pointing to orders that don't exist.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101584" y="141732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09 — High-Cost Suppliers (HAVING)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920240"/>
            <a:ext cx="3611880" cy="2103120"/>
          </a:xfrm>
          <a:prstGeom prst="roundRect">
            <a:avLst>
              <a:gd name="adj" fmla="val 2609"/>
            </a:avLst>
          </a:prstGeom>
          <a:solidFill>
            <a:srgbClr val="F7F3E9"/>
          </a:solidFill>
          <a:ln w="12700">
            <a:solidFill>
              <a:srgbClr val="D8E3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2029968"/>
            <a:ext cx="3282696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S.supplier_name,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AVG(unit_cost_inr) AS Avgcost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Rawmaterial R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 Suppliers S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R.supplier_id=S.supplier_id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S.supplier_name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3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AVG(unit_cost_inr) &gt; 10000;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01584" y="416052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filters on the aggregated result — flags suppliers worth a procurement cost review.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Built on the Batch-Traceability Backbone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cleaned tables were loaded into Power BI and modeled as a star schema. Production Batch Clean and orders Clean (order line items) act as the two fact tables; everything else — Suppliers, Products, Warehouse, Customers — sits around them as dimensions. Two separate calendar tables (DateTable, OrderDateTable) avoid ambiguous filter paths between manufacturing dates and order dates.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F2F6F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3337560"/>
            <a:ext cx="190500" cy="0"/>
          </a:xfrm>
          <a:prstGeom prst="line">
            <a:avLst/>
          </a:prstGeom>
          <a:noFill/>
          <a:ln w="19050">
            <a:solidFill>
              <a:srgbClr val="5A6B6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5646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F2F6F5"/>
          </a:solidFill>
          <a:ln/>
        </p:spPr>
      </p:sp>
      <p:sp>
        <p:nvSpPr>
          <p:cNvPr id="9" name="Text 7"/>
          <p:cNvSpPr/>
          <p:nvPr/>
        </p:nvSpPr>
        <p:spPr>
          <a:xfrm>
            <a:off x="215646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73780" y="3337560"/>
            <a:ext cx="190500" cy="0"/>
          </a:xfrm>
          <a:prstGeom prst="line">
            <a:avLst/>
          </a:prstGeom>
          <a:noFill/>
          <a:ln w="19050">
            <a:solidFill>
              <a:srgbClr val="5A6B6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6428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0B4F4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428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81600" y="3337560"/>
            <a:ext cx="190500" cy="0"/>
          </a:xfrm>
          <a:prstGeom prst="line">
            <a:avLst/>
          </a:prstGeom>
          <a:noFill/>
          <a:ln w="19050">
            <a:solidFill>
              <a:srgbClr val="5A6B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7210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F2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537210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89420" y="3337560"/>
            <a:ext cx="190500" cy="0"/>
          </a:xfrm>
          <a:prstGeom prst="line">
            <a:avLst/>
          </a:prstGeom>
          <a:noFill/>
          <a:ln w="19050">
            <a:solidFill>
              <a:srgbClr val="5A6B6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7992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0B4F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7992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 items)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97240" y="3337560"/>
            <a:ext cx="190500" cy="0"/>
          </a:xfrm>
          <a:prstGeom prst="line">
            <a:avLst/>
          </a:prstGeom>
          <a:noFill/>
          <a:ln w="19050">
            <a:solidFill>
              <a:srgbClr val="5A6B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8774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F2F6F5"/>
          </a:solidFill>
          <a:ln/>
        </p:spPr>
      </p:sp>
      <p:sp>
        <p:nvSpPr>
          <p:cNvPr id="21" name="Text 19"/>
          <p:cNvSpPr/>
          <p:nvPr/>
        </p:nvSpPr>
        <p:spPr>
          <a:xfrm>
            <a:off x="858774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005060" y="3337560"/>
            <a:ext cx="190500" cy="0"/>
          </a:xfrm>
          <a:prstGeom prst="line">
            <a:avLst/>
          </a:prstGeom>
          <a:noFill/>
          <a:ln w="19050">
            <a:solidFill>
              <a:srgbClr val="5A6B6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95560" y="2926080"/>
            <a:ext cx="1417320" cy="822960"/>
          </a:xfrm>
          <a:prstGeom prst="roundRect">
            <a:avLst>
              <a:gd name="adj" fmla="val 7778"/>
            </a:avLst>
          </a:prstGeom>
          <a:solidFill>
            <a:srgbClr val="F2F6F5"/>
          </a:solidFill>
          <a:ln/>
        </p:spPr>
      </p:sp>
      <p:sp>
        <p:nvSpPr>
          <p:cNvPr id="24" name="Text 22"/>
          <p:cNvSpPr/>
          <p:nvPr/>
        </p:nvSpPr>
        <p:spPr>
          <a:xfrm>
            <a:off x="10195560" y="292608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977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 shown in teal — Production Batch Clean and orders Clean carry the transactional grain; dimension tables surround them.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DF3E3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548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44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decisions worth explaining in an interview: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orders (batch_id) → Production Batch was kept as the active relationship instead of orders (product_id) → Products, to preserve full batch-level traceability.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 separate date tables avoid the ambiguous-path error that occurs when one calendar tries to serve two unrelated fact tables.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Raw Material Clean is a standalone branch (joins only to Suppliers) — an honest simplification, not forced into the main fact chain.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Supply Chain &amp; Quality Analytics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2F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B4F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Demonstrated, End to 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8132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481328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/ M — trim, type conversion, conditional &amp; custom columns, deduplication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305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Modeling: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11-table schema with correctly scoped PK/FK relationships and documented simplifications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523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249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SQL:  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724912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(Inner/Left/Full Outer), CTEs, CASE, window functions, subqueries, HAVING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37413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741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34670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BI:  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3346704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dual date tables, DAX measures, 4-tab dashboard with KPI-driven insights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995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6849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Application: 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3968496"/>
            <a:ext cx="8138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background applied to QC interpretation — assay purity, dissolution, microbial testing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12700">
            <a:solidFill>
              <a:srgbClr val="2A6E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486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 Gurjar  |  Data Analytics Portfolio  |  Ahmedabad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2061</Words>
  <Application>Microsoft Office PowerPoint</Application>
  <PresentationFormat>Widescreen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 GURJER</cp:lastModifiedBy>
  <cp:revision>2</cp:revision>
  <dcterms:created xsi:type="dcterms:W3CDTF">2026-08-22T16:41:13Z</dcterms:created>
  <dcterms:modified xsi:type="dcterms:W3CDTF">2026-08-27T11:45:08Z</dcterms:modified>
</cp:coreProperties>
</file>